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Лаба про то, как из шумного ряда датчика достать события заправок. Данные реальные, метрики честные, в конце задание на улучшение.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57% = 711 из 1249 событий приходятся на заправки при заглушенном двигателе.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главная мысль всей лабы. Дальше вся конструкция вырастает отсюда.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Ответ: метка детерминированно выводится из тех же признаков, что подаются на вход. Модель восстанавливает правило разметки, а не учит физику заправки. Признак утечки — идеальное разделение класса 1:1400 на второй эпохе. Нужны метки, независимые от ряда уровня: чеки АЗС, транзакции топливных карт.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Детекция заправок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 датчику уровня топлива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9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Лабораторная работа на реальных данных автопарка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51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машин  ·  6.1 млн сообщений телематики  ·  полгода работы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235440" y="2103120"/>
            <a:ext cx="2286000" cy="2286000"/>
          </a:xfrm>
          <a:prstGeom prst="ellipse">
            <a:avLst/>
          </a:prstGeom>
          <a:solidFill>
            <a:srgbClr val="E39B2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235440" y="210312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0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20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0.85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9235440" y="45720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бейзлайн, который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FB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нужно побить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Зачем это нужно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Топливо — одна из самых крупных статей расходов автопарка. Контролируют его по датчику уровня в баке: если заправки и сливы не находятся автоматически, топливный баланс сводят руками по чекам, а расхождения списывают на «погрешность датчика».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7889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39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1 249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66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заправок размечено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полгода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25146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43400" y="27889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39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57 %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566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них — с заглушенным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двигателем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25146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0" y="27889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39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1.8 %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3566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целевого класса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данных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по ряду уровня топлива находить моменты заправок.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приходит с машины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Телематический блок шлёт сообщение раз в несколько секунд. Нас интересуют четыре поля.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1206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8366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уровень топлива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1284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сырые «попугаи» датчика, не литры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51206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79806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зажигание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12724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или 1 — включён ли двигатель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657600"/>
            <a:ext cx="51206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71246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04164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нужна, чтобы отличить стоянку от движения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572000"/>
            <a:ext cx="51206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95604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сообщения приходят неравномерно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1828800"/>
            <a:ext cx="5212080" cy="3493008"/>
          </a:xfrm>
          <a:prstGeom prst="roundRect">
            <a:avLst>
              <a:gd name="adj" fmla="val 2094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0" y="2057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Тарировка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251460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Датчик отдаёт число, зависящее от геометрии бака. У каждой машины своя тарировочная таблица: несколько пар «показание → литры». Между узлами — линейная интерполяция.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этого шага одна и та же заправка на 40 литров даёт на разных машинах разную амплитуду, и ни общий порог, ни общая модель не работают.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не решается производной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Очевидное решение — порог на приросте уровня. Ломается по трём причинам.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75488" cy="475488"/>
          </a:xfrm>
          <a:prstGeom prst="ellipse">
            <a:avLst/>
          </a:prstGeom>
          <a:solidFill>
            <a:srgbClr val="E39B2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3794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Датчик молчит при заглушенном двигателе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16712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 запитан от зажигания. А заправка — это почти всегда стоянка с заглушенным двигателем. Роста уровня в данных просто нет: есть провал и другое значение после.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475488" cy="475488"/>
          </a:xfrm>
          <a:prstGeom prst="ellipse">
            <a:avLst/>
          </a:prstGeom>
          <a:solidFill>
            <a:srgbClr val="E39B2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063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02666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Уровень плещется на ходу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3558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Разгоны, торможения, уклон дороги — уровень гуляет на несколько литров. Медленная заправка из бензовоза похожа на этот шум.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475488" cy="475488"/>
          </a:xfrm>
          <a:prstGeom prst="ellipse">
            <a:avLst/>
          </a:prstGeom>
          <a:solidFill>
            <a:srgbClr val="E39B2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251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2153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не выбирается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54456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Низкий порог ловит подливы, но срабатывает на плеске. Высокий игнорирует плеск, но пропускает мелкие заправки. Середины нет.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4864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9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Пороговое правило на наших данных: событийный F1 = 0.37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0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9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Ключевой факт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Датчик запитан от зажигания.</a:t>
            </a:r>
            <a:endParaRPr lang="en-US" sz="36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Двигатель заглушен — данных нет.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3192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9FB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этого следует, что одно и то же физическое событие оставляет в данных два совершенно разных следа. Значит, это не одна задача детекции, а две.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задачи вместо одной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44068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Двигатель заглушен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03120"/>
            <a:ext cx="4892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Роста уровня нет вообще. Последнее сообщение до глушения даёт уровень «до», первое после запуска — уровень «после». Между ними блок нулей произвольной длины.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делаем: весь блок нулей схлопываем в одну точку. Событие занимает ровно три точки — до, ноль, после.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711 событий в данных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355080" y="1371600"/>
            <a:ext cx="544068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39B2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29400" y="16002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Двигатель работает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2103120"/>
            <a:ext cx="4892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Уровень растёт монотонно 10–20 минут. Это видно напрямую, но тонет в шуме посекундных сообщений.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делаем: ресемплим ряд в 5-минутные бины, уровень бина — среднее по валидным сообщениям.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538 событий в данных — это наша цель на лабе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5321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Разные представления данных, разные модели, разные метрики.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выглядит заправка на ходу</a:t>
            </a:r>
            <a:endParaRPr lang="en-US" sz="3000" dirty="0"/>
          </a:p>
        </p:txBody>
      </p:sp>
      <p:pic>
        <p:nvPicPr>
          <p:cNvPr id="3" name="Image 0" descr="C:\Users\79101\Downloads\Лаба_заправки\slides_img\s_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680960" cy="3195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95360" y="146304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бин — 5 минут. Заправка занимает 3–4 бина: уровень растёт с 17 до 75 литров, потом выходит на полку.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Серым — разметка оператора. Она грубая: границы поставлены на глаз, поэтому требовать от модели попадания бин-в-бин бессмысленно.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92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модели: отличить такой рост от плеска и от шума датчика.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Датасет лабораторной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 fuel_5min.csv — 85 228 строк, 4.4 МБ. Одна строка — 5 минут жизни одной машины.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9B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vehicle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18288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машина, V01…V50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9572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9B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39572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начало интервала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6265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9B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fuel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96265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 уровень, литры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529584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9B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352958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времени с зажиганием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18288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9B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speed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8288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 скорость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239572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9B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n_msg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239572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сообщений в бине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296265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9B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96265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1 / 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529584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9B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352958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или test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83680" y="1737360"/>
            <a:ext cx="493776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39B2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Разбиение — по машинам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2423160"/>
            <a:ext cx="4480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машин в train, 5 в test. Тестовые машины модель не видит вообще.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резать случайно по точкам, окна одного и того же события попадут и в обучение, и в тест — метрика будет завышена, а на новой машине модель развалится.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самая частая ошибка в задачах на временных рядах.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257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Классы: 0 — ничего · 1 — заправка на ходу (цель) · 2 — заправка на стоянке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Дисбаланс классов</a:t>
            </a:r>
            <a:endParaRPr lang="en-US" sz="3000" dirty="0"/>
          </a:p>
        </p:txBody>
      </p:sp>
      <p:pic>
        <p:nvPicPr>
          <p:cNvPr id="3" name="Image 0" descr="C:\Users\79101\Downloads\Лаба_заправки\slides_img\s_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400800" cy="335859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406640" y="1554480"/>
            <a:ext cx="4114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Целевой класс — 1.8% бинов.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«всегда 0» даст 98% accuracy и не найдёт ни одной заправки. Поэтому accuracy здесь не метрика.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делаем: веса классов в функции потерь. Но не обратно пропорционально частоте — такой вес улетает в десятки, и модель начинает видеть заправки везде. Берём корень из отношения частот.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2120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9B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 класса = min( √(N_max / N_класса), 30 )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Признаки и окна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410712" cy="3749040"/>
          </a:xfrm>
          <a:prstGeom prst="roundRect">
            <a:avLst>
              <a:gd name="adj" fmla="val 2145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96112" y="1600200"/>
            <a:ext cx="2898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Признаки бина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96112" y="2057400"/>
            <a:ext cx="289864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— сам уровень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d1, d2, d3, d4 — разности с уровнем на 1, 2, 3 и 4 бина назад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Разная глубина не случайна: d1 ловит резкий скачок, d4 — медленный рост, размазанный на 20 минут.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370832" y="1371600"/>
            <a:ext cx="3410712" cy="3749040"/>
          </a:xfrm>
          <a:prstGeom prst="roundRect">
            <a:avLst>
              <a:gd name="adj" fmla="val 2145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26864" y="1600200"/>
            <a:ext cx="2898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Окно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626864" y="2057400"/>
            <a:ext cx="289864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бинов подряд = 35 минут.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 окна — класс его центрального бина.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Центр, а не конец: для ответа «была ли тут заправка» одинаково полезен контекст и до, и после момента.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101584" y="1371600"/>
            <a:ext cx="3410712" cy="3749040"/>
          </a:xfrm>
          <a:prstGeom prst="roundRect">
            <a:avLst>
              <a:gd name="adj" fmla="val 2145"/>
            </a:avLst>
          </a:prstGeom>
          <a:solidFill>
            <a:srgbClr val="FFFFFF"/>
          </a:solidFill>
          <a:ln w="12700">
            <a:solidFill>
              <a:srgbClr val="E39B2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600200"/>
            <a:ext cx="2898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получилось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2057400"/>
            <a:ext cx="289864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74 993 окна в обучении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9 935 окон в тесте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признаков × 7 шагов на окно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Никаких порогов, подобранных руками, и никакого сглаживающего фильтра — всё это модель должна вывести сама.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Двухслойная LSTM. Ровно та, что работает в проде — обученную на лабе можно забрать в сервис.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1488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× 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862072" y="192024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20303A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21488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862072" y="25146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39B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слоя × 64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84064" y="192024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84064" y="21488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084064" y="25146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06056" y="192024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06056" y="21488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линейный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306056" y="25146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 → 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528048" y="192024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28048" y="21488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528048" y="25146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класса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6576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51 651</a:t>
            </a:r>
            <a:endParaRPr lang="en-US" sz="4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4434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36576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4434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эпох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309360" y="36576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39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с</a:t>
            </a:r>
            <a:endParaRPr lang="en-US" sz="4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4434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на CPU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0" y="36576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512</a:t>
            </a:r>
            <a:endParaRPr lang="en-US" sz="44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0" y="4434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батча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крошечная. Это осознанно: задача про правильную постановку и правильную метрику, а не про размер сети. Экспериментировать дёшево — полный цикл обучения меньше минуты.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Точечные метрики обманывают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Оператору автопарка не нужен ответ «этот пятиминутный бин относится к заправке». Ему нужно «14 августа в 10:05 машина V11 заправилась». Это событие, а не точка.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44068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5146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Угадала 3 бина из 5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71800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точечной метрике — посредственный результат.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событийной — идеально: заправка найдена, оператор её увидит.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2286000"/>
            <a:ext cx="544068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1E5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25146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бин посреди стоянки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971800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точечной метрике — почти незаметно на фоне 9 935 бинов.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событийной — полноценное ложное срабатывание, оператор пошёл разбираться зря.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2120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39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Мерить нужно то, чем пользуются.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Событийная метрика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475488" cy="475488"/>
          </a:xfrm>
          <a:prstGeom prst="ellipse">
            <a:avLst/>
          </a:prstGeom>
          <a:solidFill>
            <a:srgbClr val="E39B2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42646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Собираем события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556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Предсказанные и эталонные события — это непрерывные блоки класса 1 внутри одной машины.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475488" cy="475488"/>
          </a:xfrm>
          <a:prstGeom prst="ellipse">
            <a:avLst/>
          </a:prstGeom>
          <a:solidFill>
            <a:srgbClr val="E39B2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423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3865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Сопоставляем с допуском ±5 минут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71576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Предсказание считается попаданием, если пересекается с эталонным событием с точностью до пяти минут.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383280"/>
            <a:ext cx="475488" cy="475488"/>
          </a:xfrm>
          <a:prstGeom prst="ellipse">
            <a:avLst/>
          </a:prstGeom>
          <a:solidFill>
            <a:srgbClr val="E39B2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383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34670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штрафуем за неоднозначное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6758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Предсказание, попавшее на класс 2, не считаем ошибкой: разметке там доверять нельзя.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343400"/>
            <a:ext cx="475488" cy="475488"/>
          </a:xfrm>
          <a:prstGeom prst="ellipse">
            <a:avLst/>
          </a:prstGeom>
          <a:solidFill>
            <a:srgbClr val="E39B2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343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30682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Считаем TP, FP, FN по событиям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6360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уже из них — precision, recall и F1. Это главная метрика лабы.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4406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Допуск ±5 минут — это ровно один бин. Соседний бин не считается ошибкой.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 бейзлайна</a:t>
            </a:r>
            <a:endParaRPr lang="en-US" sz="3000" dirty="0"/>
          </a:p>
        </p:txBody>
      </p:sp>
      <p:pic>
        <p:nvPicPr>
          <p:cNvPr id="3" name="Image 0" descr="C:\Users\79101\Downloads\Лаба_заправки\slides_img\s_conf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3447288" cy="3657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точечный F1, класс 1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778240" y="154533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0.750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0" y="22585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событийная precision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778240" y="220370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291693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событийная recall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778240" y="28620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0.744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0" y="357530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событийный F1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778240" y="35204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39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0.853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0" y="42336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 / пропущено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778240" y="41788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39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 / 33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0" y="493776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Ложных срабатываний по событиям ноль: все лишние бины оказались рядом с настоящими заправками и попали в допуск. Весь запас для улучшения — в 33 пропущенных событиях. И обратите внимание на матрицу: 72 бина заправки на ходу модель отправила в класс 2.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Зачем здесь модель</a:t>
            </a:r>
            <a:endParaRPr lang="en-US" sz="3000" dirty="0"/>
          </a:p>
        </p:txBody>
      </p:sp>
      <p:pic>
        <p:nvPicPr>
          <p:cNvPr id="3" name="Image 0" descr="C:\Users\79101\Downloads\Лаба_заправки\slides_img\s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5669280" cy="343631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766560" y="155448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Пороговое правило перебрано по всей сетке порогов от 1 до 20 литров. Лучший результат — 0.373.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Причина видна в цифрах: при любом пороге recall высокий, а precision около 0.22. Правило находит все заправки и вместе с ними ещё вчетверо больше плеска.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отличает рост от шума по форме окна, а не по одному числу.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3035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Разница более чем вдвое — и это на честном разбиении по машинам.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0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Задание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39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Увеличить событийный F1 на тестовых машинах. Планка «хорошо» — выше 0.88.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542032" cy="914400"/>
          </a:xfrm>
          <a:prstGeom prst="roundRect">
            <a:avLst>
              <a:gd name="adj" fmla="val 8000"/>
            </a:avLst>
          </a:prstGeom>
          <a:solidFill>
            <a:srgbClr val="2C3F4B"/>
          </a:solidFill>
          <a:ln w="12700">
            <a:solidFill>
              <a:srgbClr val="3D536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93976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04872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ign, speed, n_msg, время суток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19856" y="1965960"/>
            <a:ext cx="2542032" cy="914400"/>
          </a:xfrm>
          <a:prstGeom prst="roundRect">
            <a:avLst>
              <a:gd name="adj" fmla="val 8000"/>
            </a:avLst>
          </a:prstGeom>
          <a:solidFill>
            <a:srgbClr val="2C3F4B"/>
          </a:solidFill>
          <a:ln w="12700">
            <a:solidFill>
              <a:srgbClr val="3D536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02736" y="2093976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Нормализация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602736" y="2404872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статистики только по train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1965960"/>
            <a:ext cx="2542032" cy="914400"/>
          </a:xfrm>
          <a:prstGeom prst="roundRect">
            <a:avLst>
              <a:gd name="adj" fmla="val 8000"/>
            </a:avLst>
          </a:prstGeom>
          <a:solidFill>
            <a:srgbClr val="2C3F4B"/>
          </a:solidFill>
          <a:ln w="12700">
            <a:solidFill>
              <a:srgbClr val="3D53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82512" y="2093976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Длина окна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82512" y="2404872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минут — не догма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79408" y="1965960"/>
            <a:ext cx="2542032" cy="914400"/>
          </a:xfrm>
          <a:prstGeom prst="roundRect">
            <a:avLst>
              <a:gd name="adj" fmla="val 8000"/>
            </a:avLst>
          </a:prstGeom>
          <a:solidFill>
            <a:srgbClr val="2C3F4B"/>
          </a:solidFill>
          <a:ln w="12700">
            <a:solidFill>
              <a:srgbClr val="3D53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62288" y="2093976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Веса классов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162288" y="2404872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другая степень, focal loss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108960"/>
            <a:ext cx="2542032" cy="914400"/>
          </a:xfrm>
          <a:prstGeom prst="roundRect">
            <a:avLst>
              <a:gd name="adj" fmla="val 8000"/>
            </a:avLst>
          </a:prstGeom>
          <a:solidFill>
            <a:srgbClr val="2C3F4B"/>
          </a:solidFill>
          <a:ln w="12700">
            <a:solidFill>
              <a:srgbClr val="3D536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236976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3547872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biLSTM, GRU, 1D-CNN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419856" y="3108960"/>
            <a:ext cx="2542032" cy="914400"/>
          </a:xfrm>
          <a:prstGeom prst="roundRect">
            <a:avLst>
              <a:gd name="adj" fmla="val 8000"/>
            </a:avLst>
          </a:prstGeom>
          <a:solidFill>
            <a:srgbClr val="2C3F4B"/>
          </a:solidFill>
          <a:ln w="12700">
            <a:solidFill>
              <a:srgbClr val="3D536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02736" y="3236976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Постобработка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602736" y="3547872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убрать одиночные срабатывания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9632" y="3108960"/>
            <a:ext cx="2542032" cy="914400"/>
          </a:xfrm>
          <a:prstGeom prst="roundRect">
            <a:avLst>
              <a:gd name="adj" fmla="val 8000"/>
            </a:avLst>
          </a:prstGeom>
          <a:solidFill>
            <a:srgbClr val="2C3F4B"/>
          </a:solidFill>
          <a:ln w="12700">
            <a:solidFill>
              <a:srgbClr val="3D536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82512" y="3236976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вероятности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82512" y="3547872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argmax — тоже не догма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979408" y="3108960"/>
            <a:ext cx="2542032" cy="914400"/>
          </a:xfrm>
          <a:prstGeom prst="roundRect">
            <a:avLst>
              <a:gd name="adj" fmla="val 8000"/>
            </a:avLst>
          </a:prstGeom>
          <a:solidFill>
            <a:srgbClr val="2C3F4B"/>
          </a:solidFill>
          <a:ln w="12700">
            <a:solidFill>
              <a:srgbClr val="3D536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62288" y="3236976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бина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162288" y="3547872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сырые данные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45262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FB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Правила: разбиение split не трогаем · на тестовых машинах не обучаемся · гиперпараметры подбираем на train · в отчёте таблица «что поменял → какой стал F1»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53492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9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Подгонка гиперпараметров по тесту не засчитывается.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0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 со звёздочкой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92024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2C3F4B"/>
          </a:solidFill>
          <a:ln w="12700">
            <a:solidFill>
              <a:srgbClr val="3D536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2402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39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004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FB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второй модели —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FB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заправок при заглушенном двигателе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92024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D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Разметка там ставится по правилу: блок ровно из трёх точек, в середине уровень равен нулю, слева и справа уровни стабильны и различаются.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D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 модели — уровень и его разности.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D4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стопроцентный результат в такой постановке ничего не говорит о качестве детекции? Что нужно поменять, чтобы число стало осмысленным?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39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Умение увидеть такую ловушку в своих же метриках — половина работы дата-сайентиста.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Детекция заправок по датчику уровня топлива</dc:title>
  <dc:subject>PptxGenJS Presentation</dc:subject>
  <dc:creator>Лаборатория</dc:creator>
  <cp:lastModifiedBy>Лаборатория</cp:lastModifiedBy>
  <cp:revision>1</cp:revision>
  <dcterms:created xsi:type="dcterms:W3CDTF">2026-09-02T16:30:59Z</dcterms:created>
  <dcterms:modified xsi:type="dcterms:W3CDTF">2026-09-02T16:30:59Z</dcterms:modified>
</cp:coreProperties>
</file>