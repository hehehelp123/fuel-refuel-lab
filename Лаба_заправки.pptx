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870" r:id="rId1"/>
  </p:sldMasterIdLst>
  <p:notesMasterIdLst>
    <p:notesMasterId r:id="rId15"/>
  </p:notesMasterIdLst>
  <p:handoutMasterIdLst>
    <p:handoutMasterId r:id="rId16"/>
  </p:handoutMasterIdLst>
  <p:sldIdLst>
    <p:sldId id="256" r:id="rId10"/>
    <p:sldId id="257" r:id="rId11"/>
    <p:sldId id="258" r:id="rId12"/>
    <p:sldId id="259" r:id="rId13"/>
    <p:sldId id="260" r:id="rId14"/>
    <p:sldId id="261" r:id="rId9"/>
    <p:sldId id="262" r:id="rId8"/>
    <p:sldId id="263" r:id="rId7"/>
    <p:sldId id="264" r:id="rId6"/>
    <p:sldId id="265" r:id="rId5"/>
    <p:sldId id="266" r:id="rId4"/>
    <p:sldId id="267" r:id="rId3"/>
    <p:sldId id="268" r:id="rId2"/>
    <p:sldId id="269" r:id="rId23"/>
    <p:sldId id="270" r:id="rId24"/>
    <p:sldId id="271" r:id="rId2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22" autoAdjust="0"/>
    <p:restoredTop sz="95884" autoAdjust="0"/>
  </p:normalViewPr>
  <p:slideViewPr>
    <p:cSldViewPr snapToGrid="0" snapToObjects="1" showGuides="1">
      <p:cViewPr varScale="1">
        <p:scale>
          <a:sx n="140" d="100"/>
          <a:sy n="140" d="100"/>
        </p:scale>
        <p:origin x="2454" y="114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8/10/relationships/authors" Target="authors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000" b="1">
                <a:solidFill>
                  <a:srgbClr val="FFFFFF"/>
                </a:solidFill>
              </a:rPr>
              <a:t>Детекция заправок
по датчику уровня топлива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033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>
                <a:solidFill>
                  <a:srgbClr val="FFFFFF"/>
                </a:solidFill>
              </a:rPr>
              <a:t>Лабораторная работа</a:t>
            </a:r>
          </a:p>
          <a:p>
            <a:pPr/>
            <a:r>
              <a:rPr sz="1300">
                <a:solidFill>
                  <a:srgbClr val="C9C9C9"/>
                </a:solidFill>
              </a:rPr>
              <a:t>50 машин · 6.1 млн сообщений телематики · июль — декабрь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На машине стоит датчик уровня топлива. Телематический блок шлёт показания раз в несколько секунд.</a:t>
            </a:r>
          </a:p>
          <a:p>
            <a:pPr>
              <a:spcBef>
                <a:spcPts val="1000"/>
              </a:spcBef>
            </a:pPr>
            <a:r>
              <a:t>Нужно по этому ряду находить моменты заправок.</a:t>
            </a:r>
          </a:p>
          <a:p>
            <a:pPr>
              <a:spcBef>
                <a:spcPts val="1400"/>
              </a:spcBef>
            </a:pPr>
            <a:r>
              <a:rPr sz="3000" b="1">
                <a:solidFill>
                  <a:srgbClr val="9307FE"/>
                </a:solidFill>
              </a:rPr>
              <a:t>1249 заправок за полгода на 50 машинах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Задача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Уровень топлива, зажигание, скорость, время</a:t>
            </a:r>
          </a:p>
          <a:p>
            <a:pPr/>
            <a:r>
              <a:t>Сообщения неравномерные: от секунды на ходу до нескольких минут на стоянке</a:t>
            </a:r>
          </a:p>
          <a:p>
            <a:pPr/>
            <a:r>
              <a:t>Уровень — в единицах датчика, не в литрах</a:t>
            </a:r>
          </a:p>
          <a:p>
            <a:pPr>
              <a:spcBef>
                <a:spcPts val="1000"/>
              </a:spcBef>
            </a:pPr>
            <a:r>
              <a:t>Тарировка: у каждой машины своя таблица «показание — литры». Без неё одна и та же заправка на разных машинах даёт разную амплитуду.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Что приходит с машины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Датчик запитан от зажигания: на стоянке показаний нет</a:t>
            </a:r>
          </a:p>
          <a:p>
            <a:pPr/>
            <a:r>
              <a:t>На ходу уровень гуляет на несколько литров от разгонов и уклонов</a:t>
            </a:r>
          </a:p>
          <a:p>
            <a:pPr/>
            <a:r>
              <a:t>Низкий порог ловит эти колебания, высокий пропускает мелкие заправки</a:t>
            </a:r>
          </a:p>
          <a:p>
            <a:pPr>
              <a:spcBef>
                <a:spcPts val="1400"/>
              </a:spcBef>
            </a:pPr>
            <a:r>
              <a:rPr sz="3000" b="1">
                <a:solidFill>
                  <a:srgbClr val="9307FE"/>
                </a:solidFill>
              </a:rPr>
              <a:t>Лучший порог даёт F1 = 0.37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Порог на приросте не работает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Зажигание делит задачу надвое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900" b="1">
                <a:solidFill>
                  <a:srgbClr val="9307FE"/>
                </a:solidFill>
              </a:rPr>
              <a:t>Двигатель заглушен</a:t>
            </a:r>
          </a:p>
          <a:p>
            <a:pPr>
              <a:spcBef>
                <a:spcPts val="800"/>
              </a:spcBef>
            </a:pPr>
            <a:r>
              <a:rPr sz="1500"/>
              <a:t>Роста уровня нет совсем</a:t>
            </a:r>
          </a:p>
          <a:p>
            <a:pPr>
              <a:spcBef>
                <a:spcPts val="800"/>
              </a:spcBef>
            </a:pPr>
            <a:r>
              <a:rPr sz="1500"/>
              <a:t>Виден уровень до остановки и после запуска</a:t>
            </a:r>
          </a:p>
          <a:p>
            <a:pPr>
              <a:spcBef>
                <a:spcPts val="800"/>
              </a:spcBef>
            </a:pPr>
            <a:r>
              <a:rPr sz="1500"/>
              <a:t>711 событий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5544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900" b="1">
                <a:solidFill>
                  <a:srgbClr val="9307FE"/>
                </a:solidFill>
              </a:rPr>
              <a:t>Двигатель работает</a:t>
            </a:r>
          </a:p>
          <a:p>
            <a:pPr>
              <a:spcBef>
                <a:spcPts val="800"/>
              </a:spcBef>
            </a:pPr>
            <a:r>
              <a:rPr sz="1500"/>
              <a:t>Уровень растёт монотонно 10–20 минут</a:t>
            </a:r>
          </a:p>
          <a:p>
            <a:pPr>
              <a:spcBef>
                <a:spcPts val="800"/>
              </a:spcBef>
            </a:pPr>
            <a:r>
              <a:rPr sz="1500"/>
              <a:t>Рост виден напрямую</a:t>
            </a:r>
          </a:p>
          <a:p>
            <a:pPr>
              <a:spcBef>
                <a:spcPts val="800"/>
              </a:spcBef>
            </a:pPr>
            <a:r>
              <a:rPr sz="1500"/>
              <a:t>538 событий — с ними и работаем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94960" y="1325880"/>
            <a:ext cx="3108960" cy="1645920"/>
          </a:xfrm>
        </p:spPr>
        <p:txBody>
          <a:bodyPr/>
          <a:lstStyle/>
          <a:p>
            <a:pPr/>
            <a:r>
              <a:rPr sz="1400"/>
              <a:t>Один интервал — 5 минут</a:t>
            </a:r>
          </a:p>
          <a:p>
            <a:pPr/>
            <a:r>
              <a:rPr sz="1400"/>
              <a:t>Заправка занимает 3–4 интервала: с 17 до 75 литров</a:t>
            </a:r>
          </a:p>
          <a:p>
            <a:pPr/>
            <a:r>
              <a:rPr sz="1400"/>
              <a:t>Серым — разметка оператора, границы приблизительные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Так выглядит заправка</a:t>
            </a:r>
          </a:p>
        </p:txBody>
      </p:sp>
      <p:pic>
        <p:nvPicPr>
          <p:cNvPr id="4" name="Picture 3" descr="s_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28800"/>
            <a:ext cx="4572000" cy="19350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85 228 строк: одна строка — 5 минут одной машины</a:t>
            </a:r>
          </a:p>
          <a:p>
            <a:pPr/>
            <a:r>
              <a:t>Столбцы: vehicle, ts, fuel, ign, speed, n_msg, label, split</a:t>
            </a:r>
          </a:p>
          <a:p>
            <a:pPr/>
            <a:r>
              <a:t>Классы: 0 — ничего, 1 — заправка на ходу, 2 — на стоянке</a:t>
            </a:r>
          </a:p>
          <a:p>
            <a:pPr>
              <a:spcBef>
                <a:spcPts val="1000"/>
              </a:spcBef>
            </a:pPr>
            <a:r>
              <a:t>Разбиение по машинам: 45 в обучении, 5 в тесте. По точкам делить нельзя — окна одного события попадут в обе части.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Датасет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94960" y="1325880"/>
            <a:ext cx="3108960" cy="2377440"/>
          </a:xfrm>
        </p:spPr>
        <p:txBody>
          <a:bodyPr/>
          <a:lstStyle/>
          <a:p>
            <a:pPr/>
            <a:r>
              <a:rPr sz="1400"/>
              <a:t>Модель «всегда ноль» даёт 98% accuracy и не находит ни одной заправки</a:t>
            </a:r>
          </a:p>
          <a:p>
            <a:pPr/>
            <a:r>
              <a:rPr sz="1400"/>
              <a:t>Поэтому в потерях — веса классов: корень из отношения частот</a:t>
            </a:r>
          </a:p>
          <a:p>
            <a:pPr>
              <a:spcBef>
                <a:spcPts val="1400"/>
              </a:spcBef>
            </a:pPr>
            <a:r>
              <a:rPr sz="3400" b="1">
                <a:solidFill>
                  <a:srgbClr val="9307FE"/>
                </a:solidFill>
              </a:rPr>
              <a:t>1.8%</a:t>
            </a:r>
          </a:p>
          <a:p>
            <a:pPr/>
            <a:r>
              <a:rPr sz="1300"/>
              <a:t>интервалов — заправка на ходу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Целевой класс редкий</a:t>
            </a:r>
          </a:p>
        </p:txBody>
      </p:sp>
      <p:pic>
        <p:nvPicPr>
          <p:cNvPr id="4" name="Picture 3" descr="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480560" cy="246034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Признаки интервала: уровень и четыре разности — на 1, 2, 3 и 4 назад</a:t>
            </a:r>
          </a:p>
          <a:p>
            <a:pPr/>
            <a:r>
              <a:t>Короткая разность ловит скачок, длинная — медленный рост</a:t>
            </a:r>
          </a:p>
          <a:p>
            <a:pPr/>
            <a:r>
              <a:t>Окно: 7 интервалов подряд, это 35 минут</a:t>
            </a:r>
          </a:p>
          <a:p>
            <a:pPr/>
            <a:r>
              <a:t>Класс окна — класс центрального интервала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9307FE"/>
                </a:solidFill>
              </a:rPr>
              <a:t>74 993 окна в обучении, 9 935 в тесте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Признаки и окна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Двухслойная LSTM на 64 нейрона, dropout 0.2, линейный слой на 3 класса</a:t>
            </a:r>
          </a:p>
          <a:p>
            <a:pPr/>
            <a:r>
              <a:t>Adam, шаг 0.001, батч 512, 30 эпох</a:t>
            </a:r>
          </a:p>
          <a:p>
            <a:pPr/>
            <a:r>
              <a:t>Та же архитектура работает в продуктивном сервисе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9307FE"/>
                </a:solidFill>
              </a:rPr>
              <a:t>51 651 параметр · 45 секунд обучения на CPU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Точечная метрика обманывает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900" b="1">
                <a:solidFill>
                  <a:srgbClr val="008CB4"/>
                </a:solidFill>
              </a:rPr>
              <a:t>Угадала 3 интервала из 5</a:t>
            </a:r>
          </a:p>
          <a:p>
            <a:pPr>
              <a:spcBef>
                <a:spcPts val="800"/>
              </a:spcBef>
            </a:pPr>
            <a:r>
              <a:rPr sz="1500"/>
              <a:t>Точечная метрика: средне</a:t>
            </a:r>
          </a:p>
          <a:p>
            <a:pPr>
              <a:spcBef>
                <a:spcPts val="800"/>
              </a:spcBef>
            </a:pPr>
            <a:r>
              <a:rPr sz="1500"/>
              <a:t>Событийная: заправка найдена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5544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900" b="1">
                <a:solidFill>
                  <a:srgbClr val="008CB4"/>
                </a:solidFill>
              </a:rPr>
              <a:t>Одно срабатывание на стоянке</a:t>
            </a:r>
          </a:p>
          <a:p>
            <a:pPr>
              <a:spcBef>
                <a:spcPts val="800"/>
              </a:spcBef>
            </a:pPr>
            <a:r>
              <a:rPr sz="1500"/>
              <a:t>Точечная метрика: почти незаметно</a:t>
            </a:r>
          </a:p>
          <a:p>
            <a:pPr>
              <a:spcBef>
                <a:spcPts val="800"/>
              </a:spcBef>
            </a:pPr>
            <a:r>
              <a:rPr sz="1500"/>
              <a:t>Событийная: ложная тревога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Событие — непрерывный блок класса 1 внутри одной машины</a:t>
            </a:r>
          </a:p>
          <a:p>
            <a:pPr/>
            <a:r>
              <a:t>Предсказание засчитывается при пересечении с эталоном ±5 минут</a:t>
            </a:r>
          </a:p>
          <a:p>
            <a:pPr/>
            <a:r>
              <a:t>Допуск в 5 минут — это один интервал, соседний не считается ошибкой</a:t>
            </a:r>
          </a:p>
          <a:p>
            <a:pPr/>
            <a:r>
              <a:t>Попадание на класс 2 не штрафуется: разметке там нельзя доверять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Как считаем события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3931920" y="1371600"/>
            <a:ext cx="4480560" cy="2926080"/>
          </a:xfrm>
        </p:spPr>
        <p:txBody>
          <a:bodyPr/>
          <a:lstStyle/>
          <a:p>
            <a:pPr/>
            <a:r>
              <a:rPr sz="3400" b="1">
                <a:solidFill>
                  <a:srgbClr val="9307FE"/>
                </a:solidFill>
              </a:rPr>
              <a:t>0.853</a:t>
            </a:r>
          </a:p>
          <a:p>
            <a:pPr/>
            <a:r>
              <a:rPr sz="1300"/>
              <a:t>событийный F1</a:t>
            </a:r>
          </a:p>
          <a:p>
            <a:pPr>
              <a:spcBef>
                <a:spcPts val="1000"/>
              </a:spcBef>
            </a:pPr>
            <a:r>
              <a:rPr sz="1400"/>
              <a:t>precision 1.000 · recall 0.744</a:t>
            </a:r>
          </a:p>
          <a:p>
            <a:pPr/>
            <a:r>
              <a:rPr sz="1400"/>
              <a:t>Найдено 96 событий, пропущено 33</a:t>
            </a:r>
          </a:p>
          <a:p>
            <a:pPr/>
            <a:r>
              <a:rPr sz="1400"/>
              <a:t>72 интервала уехали в класс 2 — здесь запас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Результаты</a:t>
            </a:r>
          </a:p>
        </p:txBody>
      </p:sp>
      <p:pic>
        <p:nvPicPr>
          <p:cNvPr id="4" name="Picture 3" descr="s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926080" cy="297412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212080" y="1463040"/>
            <a:ext cx="3291840" cy="2194560"/>
          </a:xfrm>
        </p:spPr>
        <p:txBody>
          <a:bodyPr/>
          <a:lstStyle/>
          <a:p>
            <a:pPr/>
            <a:r>
              <a:rPr sz="1400"/>
              <a:t>Порог перебран от 1 до 20 литров, лучший результат 0.373</a:t>
            </a:r>
          </a:p>
          <a:p>
            <a:pPr/>
            <a:r>
              <a:rPr sz="1400"/>
              <a:t>При любом пороге precision около 0.22: правило находит заправки вместе с колебаниями</a:t>
            </a:r>
          </a:p>
          <a:p>
            <a:pPr/>
            <a:r>
              <a:rPr sz="1400"/>
              <a:t>Модель смотрит на форму окна, а не на одно число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 против порога</a:t>
            </a:r>
          </a:p>
        </p:txBody>
      </p:sp>
      <p:pic>
        <p:nvPicPr>
          <p:cNvPr id="4" name="Picture 3" descr="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297680" cy="279848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rPr sz="1800" b="1"/>
              <a:t>Поднять событийный F1 на тестовых машинах</a:t>
            </a:r>
          </a:p>
          <a:p>
            <a:pPr>
              <a:spcBef>
                <a:spcPts val="600"/>
              </a:spcBef>
            </a:pPr>
            <a:r>
              <a:rPr sz="1500"/>
              <a:t>Планка «хорошо» — выше 0.88</a:t>
            </a:r>
          </a:p>
          <a:p>
            <a:pPr>
              <a:spcBef>
                <a:spcPts val="1200"/>
              </a:spcBef>
            </a:pPr>
            <a:r>
              <a:rPr sz="1400"/>
              <a:t>Признаки · нормализация · длина окна · веса классов · архитектура · сглаживание предсказаний · порог вероятности · размер интервала</a:t>
            </a:r>
          </a:p>
          <a:p>
            <a:pPr>
              <a:spcBef>
                <a:spcPts val="1000"/>
              </a:spcBef>
            </a:pPr>
            <a:r>
              <a:rPr sz="1400"/>
              <a:t>Разбиение не менять, на тестовых машинах не обучаться, гиперпараметры подбирать на обучающей выборке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Задание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Вторая модель — для заправок на стоянке — даёт accuracy 100% и F1 = 1.0</a:t>
            </a:r>
          </a:p>
          <a:p>
            <a:pPr>
              <a:spcBef>
                <a:spcPts val="1000"/>
              </a:spcBef>
            </a:pPr>
            <a:r>
              <a:t>Метка ставится по правилу: три точки, в середине ноль, по краям уровни стабильны и различаются. Признаки модели — уровень и его разности.</a:t>
            </a:r>
          </a:p>
          <a:p>
            <a:pPr>
              <a:spcBef>
                <a:spcPts val="1400"/>
              </a:spcBef>
            </a:pPr>
            <a:r>
              <a:rPr sz="1800" b="1">
                <a:solidFill>
                  <a:srgbClr val="D92B22"/>
                </a:solidFill>
              </a:rPr>
              <a:t>Почему это число ничего не говорит о качестве детекции?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Вопрос со звёздочкой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5441</TotalTime>
  <Words>1058</Words>
  <Application>Microsoft Office PowerPoint</Application>
  <PresentationFormat>Экран (16:9)</PresentationFormat>
  <Paragraphs>86</Paragraphs>
  <Slides>13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Система автоматического выявления подмены лица на изображениях с использованием современных технологий искусственного интеллекта </vt:lpstr>
      <vt:lpstr>Актуальность проблемы: Эволюция дипфейков</vt:lpstr>
      <vt:lpstr>Цель и задачи исследования</vt:lpstr>
      <vt:lpstr>Анализ существующих подходов</vt:lpstr>
      <vt:lpstr>Предложенная гибридная методология</vt:lpstr>
      <vt:lpstr>Архитектура: контекстная диаграмма</vt:lpstr>
      <vt:lpstr>Архитектура: диаграмма контейнеров</vt:lpstr>
      <vt:lpstr>Архитектур: диаграмма компонентов</vt:lpstr>
      <vt:lpstr>Формирование набора данных</vt:lpstr>
      <vt:lpstr>Результаты</vt:lpstr>
      <vt:lpstr>Интерпретируемость результата</vt:lpstr>
      <vt:lpstr>Итоги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Халеев Михаил Дмитриевич</cp:lastModifiedBy>
  <cp:revision>133</cp:revision>
  <dcterms:created xsi:type="dcterms:W3CDTF">2014-06-27T12:30:22Z</dcterms:created>
  <dcterms:modified xsi:type="dcterms:W3CDTF">2026-03-31T17:05:29Z</dcterms:modified>
</cp:coreProperties>
</file>