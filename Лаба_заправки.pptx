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70" r:id="rId1"/>
  </p:sldMasterIdLst>
  <p:notesMasterIdLst>
    <p:notesMasterId r:id="rId15"/>
  </p:notesMasterIdLst>
  <p:handoutMasterIdLst>
    <p:handoutMasterId r:id="rId16"/>
  </p:handoutMasterIdLst>
  <p:sldIdLst>
    <p:sldId id="256" r:id="rId10"/>
    <p:sldId id="257" r:id="rId11"/>
    <p:sldId id="258" r:id="rId12"/>
    <p:sldId id="259" r:id="rId13"/>
    <p:sldId id="260" r:id="rId14"/>
    <p:sldId id="261" r:id="rId9"/>
    <p:sldId id="262" r:id="rId8"/>
    <p:sldId id="263" r:id="rId7"/>
    <p:sldId id="264" r:id="rId6"/>
    <p:sldId id="265" r:id="rId5"/>
    <p:sldId id="266" r:id="rId4"/>
    <p:sldId id="267" r:id="rId3"/>
    <p:sldId id="268" r:id="rId2"/>
    <p:sldId id="269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2" autoAdjust="0"/>
    <p:restoredTop sz="95884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2454" y="114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8/10/relationships/authors" Target="authors.xml"/><Relationship Id="rId23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000" b="1">
                <a:solidFill>
                  <a:srgbClr val="FFFFFF"/>
                </a:solidFill>
              </a:rPr>
              <a:t>Детекция заправок
по датчику уровня топлива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03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FFFFFF"/>
                </a:solidFill>
              </a:rPr>
              <a:t>Лабораторная работа</a:t>
            </a:r>
          </a:p>
          <a:p>
            <a:pPr/>
            <a:r>
              <a:rPr sz="1300">
                <a:solidFill>
                  <a:srgbClr val="C9C9C9"/>
                </a:solidFill>
              </a:rPr>
              <a:t>50 машин · 6.1 млн сообщений телематики · июль — декабрь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212080" y="1554480"/>
            <a:ext cx="3291840" cy="2377440"/>
          </a:xfrm>
        </p:spPr>
        <p:txBody>
          <a:bodyPr/>
          <a:lstStyle/>
          <a:p>
            <a:pPr/>
            <a:r>
              <a:rPr sz="1500"/>
              <a:t>Датчик уровня топлива шлёт показания раз в несколько секунд. Надо находить моменты заправок.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9307FE"/>
                </a:solidFill>
              </a:rPr>
              <a:t>1249</a:t>
            </a:r>
          </a:p>
          <a:p>
            <a:pPr/>
            <a:r>
              <a:rPr sz="1200">
                <a:solidFill>
                  <a:srgbClr val="1A1A1A"/>
                </a:solidFill>
              </a:rPr>
              <a:t>заправок размечено за полгода на 50 машинах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Задача</a:t>
            </a:r>
          </a:p>
        </p:txBody>
      </p:sp>
      <p:pic>
        <p:nvPicPr>
          <p:cNvPr id="4" name="Picture 3" descr="s_events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4297680" cy="24986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Что приходит с машины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7589520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530352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поле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что это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уровень топлива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в единицах датчика, не в литрах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зажигание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0 или 1; при нуле датчик молчит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скорость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отличает стоянку от движения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время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0"/>
                        <a:t>сообщения приходят неравномерно</a:t>
                      </a:r>
                    </a:p>
                  </a:txBody>
                  <a:tcPr marL="73152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31546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A1A1A"/>
                </a:solidFill>
              </a:rPr>
              <a:t>Перевод в литры — по тарировочной таблице своей машины. Без неё одна заправка на разных машинах даёт разную амплитуду.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394960" y="1645920"/>
            <a:ext cx="3108960" cy="2194560"/>
          </a:xfrm>
        </p:spPr>
        <p:txBody>
          <a:bodyPr/>
          <a:lstStyle/>
          <a:p>
            <a:pPr/>
            <a:r>
              <a:rPr sz="1500"/>
              <a:t>Низкий порог ловит колебания уровня, высокий пропускает заправки. Середины нет.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9307FE"/>
                </a:solidFill>
              </a:rPr>
              <a:t>0.37</a:t>
            </a:r>
          </a:p>
          <a:p>
            <a:pPr/>
            <a:r>
              <a:rPr sz="1200">
                <a:solidFill>
                  <a:srgbClr val="1A1A1A"/>
                </a:solidFill>
              </a:rPr>
              <a:t>лучший событийный F1 порога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Порог на приросте не работает</a:t>
            </a:r>
          </a:p>
        </p:txBody>
      </p:sp>
      <p:pic>
        <p:nvPicPr>
          <p:cNvPr id="4" name="Picture 3" descr="s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4572000" cy="215660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Зажигание делит задачу надвое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8CB4"/>
                </a:solidFill>
              </a:rPr>
              <a:t>Двигатель выключен</a:t>
            </a:r>
          </a:p>
        </p:txBody>
      </p:sp>
      <p:pic>
        <p:nvPicPr>
          <p:cNvPr id="5" name="Picture 4" descr="s_ign_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3840480" cy="17919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5204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/>
              <a:t>Датчик молчит всю заправку: 8 л до остановки, 60 л после запуска. 711 событий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008CB4"/>
                </a:solidFill>
              </a:rPr>
              <a:t>Двигатель включён</a:t>
            </a:r>
          </a:p>
        </p:txBody>
      </p:sp>
      <p:pic>
        <p:nvPicPr>
          <p:cNvPr id="8" name="Picture 7" descr="s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91640"/>
            <a:ext cx="3840480" cy="16254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5204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/>
              <a:t>Машина стоит, двигатель работает, датчик пишет рост. 538 событий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Датасет: 85 228 строк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7589520" cy="2176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1645920"/>
                <a:gridCol w="1188720"/>
                <a:gridCol w="1005840"/>
                <a:gridCol w="1188720"/>
                <a:gridCol w="146304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vehicle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ts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fuel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ign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speed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/>
                        <a:t>V11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03.09 07:40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41.4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1.0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74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1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/>
                        <a:t>V11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03.09 07:45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62.3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1.0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72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1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/>
                        <a:t>V11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03.09 07:50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74.2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1.0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81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1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/>
                        <a:t>V11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03.09 07:55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74.2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1.0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82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/>
                        <a:t>V11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03.09 08:00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73.9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1.0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79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 marL="73152" marT="18288" marB="18288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/>
                        <a:t>V11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03.09 08:05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72.2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1.0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85</a:t>
                      </a:r>
                    </a:p>
                  </a:txBody>
                  <a:tcPr marL="73152" marT="18288" marB="18288"/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 marL="73152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377647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A1A1A"/>
                </a:solidFill>
              </a:rPr>
              <a:t>Одна строка — 5 минут одной машины. Разбиение по машинам: 45 в обучении, 5 в тесте. Классы: 0 — ничего, 1 — заправка с включённым двигателем, 2 — с выключенным.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486400" y="1554480"/>
            <a:ext cx="3017520" cy="237744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sz="2600" b="1">
                <a:solidFill>
                  <a:srgbClr val="9307FE"/>
                </a:solidFill>
              </a:rPr>
              <a:t>1.8%</a:t>
            </a:r>
          </a:p>
          <a:p>
            <a:pPr/>
            <a:r>
              <a:rPr sz="1200">
                <a:solidFill>
                  <a:srgbClr val="1A1A1A"/>
                </a:solidFill>
              </a:rPr>
              <a:t>интервалов — заправка с включённым двигателем</a:t>
            </a:r>
          </a:p>
          <a:p>
            <a:pPr>
              <a:spcBef>
                <a:spcPts val="1200"/>
              </a:spcBef>
            </a:pPr>
            <a:r>
              <a:rPr sz="1400"/>
              <a:t>Модель «всегда ноль» даёт 98% accuracy</a:t>
            </a:r>
          </a:p>
          <a:p>
            <a:pPr/>
            <a:r>
              <a:rPr sz="1400"/>
              <a:t>Спасают веса классов в функции потерь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Целевой класс редкий</a:t>
            </a:r>
          </a:p>
        </p:txBody>
      </p:sp>
      <p:pic>
        <p:nvPicPr>
          <p:cNvPr id="4" name="Picture 3" descr="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37360"/>
            <a:ext cx="4663440" cy="25653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685800" y="3977639"/>
            <a:ext cx="7772400" cy="548640"/>
          </a:xfrm>
        </p:spPr>
        <p:txBody>
          <a:bodyPr/>
          <a:lstStyle/>
          <a:p>
            <a:pPr/>
            <a:r>
              <a:rPr sz="1500"/>
              <a:t>Признаки интервала: уровень и четыре разности — на 1, 2, 3 и 4 назад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Признаки и окна</a:t>
            </a:r>
          </a:p>
        </p:txBody>
      </p:sp>
      <p:pic>
        <p:nvPicPr>
          <p:cNvPr id="4" name="Picture 3" descr="s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17320"/>
            <a:ext cx="6400800" cy="2371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486400" y="1554480"/>
            <a:ext cx="3017520" cy="237744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sz="2600" b="1">
                <a:solidFill>
                  <a:srgbClr val="9307FE"/>
                </a:solidFill>
              </a:rPr>
              <a:t>45 с</a:t>
            </a:r>
          </a:p>
          <a:p>
            <a:pPr/>
            <a:r>
              <a:rPr sz="1200">
                <a:solidFill>
                  <a:srgbClr val="1A1A1A"/>
                </a:solidFill>
              </a:rPr>
              <a:t>обучение на процессоре</a:t>
            </a:r>
          </a:p>
          <a:p>
            <a:pPr>
              <a:spcBef>
                <a:spcPts val="1200"/>
              </a:spcBef>
            </a:pPr>
            <a:r>
              <a:rPr sz="1400"/>
              <a:t>LSTM: 2 слоя по 64, 51 651 параметр</a:t>
            </a:r>
          </a:p>
          <a:p>
            <a:pPr/>
            <a:r>
              <a:rPr sz="1400"/>
              <a:t>Плато около 0.75 — есть куда расти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Модель</a:t>
            </a:r>
          </a:p>
        </p:txBody>
      </p:sp>
      <p:pic>
        <p:nvPicPr>
          <p:cNvPr id="4" name="Picture 3" descr="s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37360"/>
            <a:ext cx="4663440" cy="21840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731520" y="3703320"/>
            <a:ext cx="7680960" cy="914400"/>
          </a:xfrm>
        </p:spPr>
        <p:txBody>
          <a:bodyPr/>
          <a:lstStyle/>
          <a:p>
            <a:pPr/>
            <a:r>
              <a:rPr sz="1400"/>
              <a:t>Угадала 3 интервала из 5 — событие всё равно найдено. Одно срабатывание на пустом месте — ложная тревога.</a:t>
            </a:r>
          </a:p>
          <a:p>
            <a:pPr>
              <a:spcBef>
                <a:spcPts val="800"/>
              </a:spcBef>
            </a:pPr>
            <a:r>
              <a:rPr sz="1400"/>
              <a:t>Допуск ±5 минут — это один интервал.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Считаем события, а не точки</a:t>
            </a:r>
          </a:p>
        </p:txBody>
      </p:sp>
      <p:pic>
        <p:nvPicPr>
          <p:cNvPr id="4" name="Picture 3" descr="s_event_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5486400" cy="23085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4023360" y="1463040"/>
            <a:ext cx="4389120" cy="274320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sz="2600" b="1">
                <a:solidFill>
                  <a:srgbClr val="9307FE"/>
                </a:solidFill>
              </a:rPr>
              <a:t>0.853</a:t>
            </a:r>
          </a:p>
          <a:p>
            <a:pPr/>
            <a:r>
              <a:rPr sz="1200">
                <a:solidFill>
                  <a:srgbClr val="1A1A1A"/>
                </a:solidFill>
              </a:rPr>
              <a:t>событийный F1</a:t>
            </a:r>
          </a:p>
          <a:p>
            <a:pPr>
              <a:spcBef>
                <a:spcPts val="1200"/>
              </a:spcBef>
            </a:pPr>
            <a:r>
              <a:rPr sz="1400"/>
              <a:t>precision 1.000 · recall 0.744</a:t>
            </a:r>
          </a:p>
          <a:p>
            <a:pPr/>
            <a:r>
              <a:rPr sz="1400"/>
              <a:t>96 событий найдено, 33 пропущено</a:t>
            </a:r>
          </a:p>
          <a:p>
            <a:pPr/>
            <a:r>
              <a:rPr sz="1400"/>
              <a:t>72 интервала уехали в класс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Результаты</a:t>
            </a:r>
          </a:p>
        </p:txBody>
      </p:sp>
      <p:pic>
        <p:nvPicPr>
          <p:cNvPr id="4" name="Picture 3" descr="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926080" cy="29741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394960" y="1828800"/>
            <a:ext cx="3108960" cy="2011680"/>
          </a:xfrm>
        </p:spPr>
        <p:txBody>
          <a:bodyPr/>
          <a:lstStyle/>
          <a:p>
            <a:pPr/>
            <a:r>
              <a:rPr sz="1500"/>
              <a:t>У порога precision около 0.22: он находит заправки вместе с колебаниями уровня</a:t>
            </a:r>
          </a:p>
          <a:p>
            <a:pPr>
              <a:spcBef>
                <a:spcPts val="1000"/>
              </a:spcBef>
            </a:pPr>
            <a:r>
              <a:rPr sz="1500"/>
              <a:t>Модель смотрит на форму окна, а не на одно число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Модель против порога</a:t>
            </a:r>
          </a:p>
        </p:txBody>
      </p:sp>
      <p:pic>
        <p:nvPicPr>
          <p:cNvPr id="4" name="Picture 3" descr="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4480560" cy="291757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777240" y="3200400"/>
            <a:ext cx="7680960" cy="1371600"/>
          </a:xfrm>
        </p:spPr>
        <p:txBody>
          <a:bodyPr/>
          <a:lstStyle/>
          <a:p>
            <a:pPr/>
            <a:r>
              <a:rPr sz="1700" b="1"/>
              <a:t>Поднять событийный F1 на тестовых машинах</a:t>
            </a:r>
          </a:p>
          <a:p>
            <a:pPr>
              <a:spcBef>
                <a:spcPts val="1000"/>
              </a:spcBef>
            </a:pPr>
            <a:r>
              <a:rPr sz="1400"/>
              <a:t>Признаки · нормализация · длина окна · веса классов · архитектура · сглаживание · порог вероятности · размер интервала</a:t>
            </a:r>
          </a:p>
          <a:p>
            <a:pPr>
              <a:spcBef>
                <a:spcPts val="1000"/>
              </a:spcBef>
            </a:pPr>
            <a:r>
              <a:rPr sz="1400"/>
              <a:t>Разбиение не менять, на тестовых машинах не обучаться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Задание</a:t>
            </a:r>
          </a:p>
        </p:txBody>
      </p:sp>
      <p:pic>
        <p:nvPicPr>
          <p:cNvPr id="4" name="Picture 3" descr="s_go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371600"/>
            <a:ext cx="5669280" cy="17114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777240" y="3703320"/>
            <a:ext cx="7680960" cy="914400"/>
          </a:xfrm>
        </p:spPr>
        <p:txBody>
          <a:bodyPr/>
          <a:lstStyle/>
          <a:p>
            <a:pPr/>
            <a:r>
              <a:rPr sz="1500"/>
              <a:t>Модель для заправок с выключенным двигателем даёт accuracy 100% и F1 = 1.0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9307FE"/>
                </a:solidFill>
              </a:rPr>
              <a:t>Почему это ничего не говорит о качестве детекции?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Вопрос со звёздочкой</a:t>
            </a:r>
          </a:p>
        </p:txBody>
      </p:sp>
      <p:pic>
        <p:nvPicPr>
          <p:cNvPr id="4" name="Picture 3" descr="s_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371600"/>
            <a:ext cx="5303520" cy="22526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B8AAD5-E9C3-1658-E63A-781FE18FA76A}"/>
              </a:ext>
            </a:extLst>
          </p:cNvPr>
          <p:cNvSpPr txBox="1"/>
          <p:nvPr/>
        </p:nvSpPr>
        <p:spPr>
          <a:xfrm>
            <a:off x="8372475" y="44555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5441</TotalTime>
  <Words>1058</Words>
  <Application>Microsoft Office PowerPoint</Application>
  <PresentationFormat>Экран (16:9)</PresentationFormat>
  <Paragraphs>86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Система автоматического выявления подмены лица на изображениях с использованием современных технологий искусственного интеллекта </vt:lpstr>
      <vt:lpstr>Актуальность проблемы: Эволюция дипфейков</vt:lpstr>
      <vt:lpstr>Цель и задачи исследования</vt:lpstr>
      <vt:lpstr>Анализ существующих подходов</vt:lpstr>
      <vt:lpstr>Предложенная гибридная методология</vt:lpstr>
      <vt:lpstr>Архитектура: контекстная диаграмма</vt:lpstr>
      <vt:lpstr>Архитектура: диаграмма контейнеров</vt:lpstr>
      <vt:lpstr>Архитектур: диаграмма компонентов</vt:lpstr>
      <vt:lpstr>Формирование набора данных</vt:lpstr>
      <vt:lpstr>Результаты</vt:lpstr>
      <vt:lpstr>Интерпретируемость результата</vt:lpstr>
      <vt:lpstr>Итоги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Халеев Михаил Дмитриевич</cp:lastModifiedBy>
  <cp:revision>133</cp:revision>
  <dcterms:created xsi:type="dcterms:W3CDTF">2014-06-27T12:30:22Z</dcterms:created>
  <dcterms:modified xsi:type="dcterms:W3CDTF">2026-03-31T17:05:29Z</dcterms:modified>
</cp:coreProperties>
</file>