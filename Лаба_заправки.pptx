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870" r:id="rId1"/>
  </p:sldMasterIdLst>
  <p:notesMasterIdLst>
    <p:notesMasterId r:id="rId15"/>
  </p:notesMasterIdLst>
  <p:handoutMasterIdLst>
    <p:handoutMasterId r:id="rId16"/>
  </p:handoutMasterIdLst>
  <p:sldIdLst>
    <p:sldId id="256" r:id="rId10"/>
    <p:sldId id="257" r:id="rId11"/>
    <p:sldId id="258" r:id="rId12"/>
    <p:sldId id="259" r:id="rId13"/>
    <p:sldId id="260" r:id="rId14"/>
    <p:sldId id="261" r:id="rId9"/>
    <p:sldId id="262" r:id="rId8"/>
    <p:sldId id="263" r:id="rId7"/>
    <p:sldId id="264" r:id="rId6"/>
    <p:sldId id="265" r:id="rId5"/>
    <p:sldId id="266" r:id="rId4"/>
    <p:sldId id="267" r:id="rId3"/>
    <p:sldId id="268" r:id="rId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1">
          <p15:clr>
            <a:srgbClr val="A4A3A4"/>
          </p15:clr>
        </p15:guide>
        <p15:guide id="2" pos="2874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2595315-6059-63B0-9BE8-AAFD11894995}" name="Елена Иванченко" initials="ЕИ" userId="7f7d7db965285a96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Самолетов" initials="С" lastIdx="3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22" autoAdjust="0"/>
    <p:restoredTop sz="95884" autoAdjust="0"/>
  </p:normalViewPr>
  <p:slideViewPr>
    <p:cSldViewPr snapToGrid="0" snapToObjects="1" showGuides="1">
      <p:cViewPr varScale="1">
        <p:scale>
          <a:sx n="140" d="100"/>
          <a:sy n="140" d="100"/>
        </p:scale>
        <p:origin x="2454" y="114"/>
      </p:cViewPr>
      <p:guideLst>
        <p:guide orient="horz" pos="1611"/>
        <p:guide pos="287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5" d="100"/>
          <a:sy n="85" d="100"/>
        </p:scale>
        <p:origin x="3888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8/10/relationships/authors" Target="authors.xml"/><Relationship Id="rId23" Type="http://schemas.openxmlformats.org/officeDocument/2006/relationships/slide" Target="slides/slide1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412975-4CFD-C441-A244-B7FD9A9579C2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D660DC-725D-2A44-9F89-74FE668A9C6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2542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AFD1C8-470D-774F-8B40-381C3059BD4A}" type="datetimeFigureOut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9711C-DB87-6342-8123-FE7E39EB00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07329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 userDrawn="1"/>
        </p:nvSpPr>
        <p:spPr>
          <a:xfrm>
            <a:off x="5098416" y="49027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 userDrawn="1"/>
        </p:nvSpPr>
        <p:spPr>
          <a:xfrm>
            <a:off x="5910801" y="42723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 baseline="0"/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0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0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9977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1211943"/>
            <a:ext cx="7467600" cy="3447143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400" baseline="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ru-RU" sz="2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4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0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509715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3299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439475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4034559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414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189341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993366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2540818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360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2600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27035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57199" y="1040162"/>
            <a:ext cx="8389257" cy="373503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 b="0" baseline="0"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400"/>
            </a:lvl2pPr>
            <a:lvl3pPr marL="914400" indent="0">
              <a:buFont typeface="Arial" panose="020B0604020202020204" pitchFamily="34" charset="0"/>
              <a:buNone/>
              <a:defRPr sz="2000"/>
            </a:lvl3pPr>
            <a:lvl4pPr marL="1371600" indent="0">
              <a:buFont typeface="Arial" panose="020B0604020202020204" pitchFamily="34" charset="0"/>
              <a:buNone/>
              <a:defRPr sz="1800"/>
            </a:lvl4pPr>
            <a:lvl5pPr marL="1828800" indent="0">
              <a:buFont typeface="Arial" panose="020B0604020202020204" pitchFamily="34" charset="0"/>
              <a:buNone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000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1102738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4113" y="1233715"/>
            <a:ext cx="7170057" cy="3410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 baseline="0"/>
            </a:lvl1pPr>
            <a:lvl2pPr marL="457200" indent="0">
              <a:buFontTx/>
              <a:buNone/>
              <a:defRPr sz="1600" baseline="0"/>
            </a:lvl2pPr>
            <a:lvl3pPr marL="914400" indent="0">
              <a:buFontTx/>
              <a:buNone/>
              <a:defRPr sz="1600" baseline="0"/>
            </a:lvl3pPr>
            <a:lvl4pPr marL="1371600" indent="0">
              <a:buFontTx/>
              <a:buNone/>
              <a:defRPr sz="1600" baseline="0"/>
            </a:lvl4pPr>
            <a:lvl5pPr>
              <a:buFontTx/>
              <a:buNone/>
              <a:defRPr sz="1600" baseline="0"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16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4405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7999" y="17922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7999" y="11824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0171" y="3011486"/>
            <a:ext cx="3635830" cy="1573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2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2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2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00171" y="2401659"/>
            <a:ext cx="2960913" cy="595085"/>
          </a:xfrm>
        </p:spPr>
        <p:txBody>
          <a:bodyPr>
            <a:normAutofit/>
          </a:bodyPr>
          <a:lstStyle>
            <a:lvl1pPr marL="0" indent="0">
              <a:buNone/>
              <a:defRPr sz="1600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062931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7200" y="936852"/>
            <a:ext cx="4608513" cy="3842155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824382" cy="527284"/>
          </a:xfrm>
        </p:spPr>
        <p:txBody>
          <a:bodyPr>
            <a:normAutofit/>
          </a:bodyPr>
          <a:lstStyle>
            <a:lvl1pPr>
              <a:defRPr sz="3200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08171" y="1153886"/>
            <a:ext cx="2532743" cy="3425371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4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363212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102428" y="943208"/>
            <a:ext cx="5526315" cy="3875536"/>
          </a:xfrm>
        </p:spPr>
        <p:txBody>
          <a:bodyPr>
            <a:normAutofit/>
          </a:bodyPr>
          <a:lstStyle>
            <a:lvl1pPr marL="0" indent="0">
              <a:buNone/>
              <a:defRPr sz="140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3208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57200" y="2935720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855286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1" y="1059322"/>
            <a:ext cx="3897086" cy="1734678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202" y="3105836"/>
            <a:ext cx="3897084" cy="1640335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89714" y="1059322"/>
            <a:ext cx="3632201" cy="3686849"/>
          </a:xfrm>
        </p:spPr>
        <p:txBody>
          <a:bodyPr>
            <a:normAutofit/>
          </a:bodyPr>
          <a:lstStyle>
            <a:lvl1pPr marL="0" indent="0">
              <a:buNone/>
              <a:defRPr sz="1400" baseline="0">
                <a:solidFill>
                  <a:schemeClr val="bg1"/>
                </a:solidFill>
              </a:defRPr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r>
              <a:rPr lang="ru-RU" sz="1400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35917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0945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5969804" y="2933902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57200" y="3287828"/>
            <a:ext cx="2588883" cy="1395548"/>
          </a:xfrm>
        </p:spPr>
        <p:txBody>
          <a:bodyPr>
            <a:normAutofit/>
          </a:bodyPr>
          <a:lstStyle>
            <a:lvl1pPr marL="0" indent="0">
              <a:buNone/>
              <a:defRPr sz="1200" baseline="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207251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5967600" y="3299578"/>
            <a:ext cx="2591416" cy="1395548"/>
          </a:xfrm>
        </p:spPr>
        <p:txBody>
          <a:bodyPr>
            <a:noAutofit/>
          </a:bodyPr>
          <a:lstStyle>
            <a:lvl1pPr marL="0" indent="0">
              <a:buNone/>
              <a:defRPr sz="1200" baseline="0"/>
            </a:lvl1pPr>
            <a:lvl2pPr>
              <a:defRPr sz="1200" baseline="0"/>
            </a:lvl2pPr>
            <a:lvl3pPr>
              <a:defRPr sz="1200" baseline="0"/>
            </a:lvl3pPr>
            <a:lvl4pPr>
              <a:defRPr sz="1200" baseline="0"/>
            </a:lvl4pPr>
            <a:lvl5pPr>
              <a:defRPr sz="1200" baseline="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69081" y="944463"/>
            <a:ext cx="2577001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221666" y="944462"/>
            <a:ext cx="2577001" cy="1883023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5980690" y="944463"/>
            <a:ext cx="2577001" cy="1883023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738425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33143" y="949330"/>
            <a:ext cx="2895600" cy="3895724"/>
          </a:xfrm>
        </p:spPr>
        <p:txBody>
          <a:bodyPr>
            <a:normAutofit/>
          </a:bodyPr>
          <a:lstStyle>
            <a:lvl1pPr marL="0" indent="0">
              <a:buNone/>
              <a:defRPr sz="1400" b="0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949329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095171" y="949328"/>
            <a:ext cx="2532744" cy="1883023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7199" y="2962031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2747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201" y="963397"/>
            <a:ext cx="2532744" cy="1883023"/>
          </a:xfrm>
        </p:spPr>
        <p:txBody>
          <a:bodyPr>
            <a:normAutofit/>
          </a:bodyPr>
          <a:lstStyle>
            <a:lvl1pPr marL="0" indent="0">
              <a:buNone/>
              <a:defRPr sz="1800" b="1" i="0" baseline="0"/>
            </a:lvl1pPr>
            <a:lvl2pPr marL="457200" indent="0">
              <a:buNone/>
              <a:defRPr sz="1400" baseline="0"/>
            </a:lvl2pPr>
            <a:lvl3pPr marL="914400" indent="0">
              <a:buNone/>
              <a:defRPr sz="1400" baseline="0"/>
            </a:lvl3pPr>
            <a:lvl4pPr marL="1371600" indent="0">
              <a:buNone/>
              <a:defRPr sz="1400" baseline="0"/>
            </a:lvl4pPr>
            <a:lvl5pPr marL="1828800" indent="0">
              <a:buFont typeface="Arial" panose="020B0604020202020204" pitchFamily="34" charset="0"/>
              <a:buNone/>
              <a:defRPr sz="1400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095171" y="963397"/>
            <a:ext cx="2532744" cy="1883023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733141" y="966928"/>
            <a:ext cx="2532744" cy="1883023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733141" y="2954042"/>
            <a:ext cx="2532744" cy="1883023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95171" y="2960314"/>
            <a:ext cx="2532744" cy="1883023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7200" y="2960314"/>
            <a:ext cx="2532744" cy="1883023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318188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457201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3275819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6085706" y="2367645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306435"/>
            <a:ext cx="6291943" cy="527284"/>
          </a:xfrm>
        </p:spPr>
        <p:txBody>
          <a:bodyPr>
            <a:normAutofit/>
          </a:bodyPr>
          <a:lstStyle>
            <a:lvl1pPr>
              <a:defRPr sz="3200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454050" y="952607"/>
            <a:ext cx="2589213" cy="1304294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3275818" y="952607"/>
            <a:ext cx="2589213" cy="1304294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6089789" y="952607"/>
            <a:ext cx="2589213" cy="1304294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60352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278970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88857" y="4281396"/>
            <a:ext cx="2589213" cy="269081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2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457201" y="2866358"/>
            <a:ext cx="2589213" cy="1304294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3278969" y="2866358"/>
            <a:ext cx="2589213" cy="1304294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6092940" y="2866358"/>
            <a:ext cx="2589213" cy="1304294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71863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306434"/>
            <a:ext cx="8229600" cy="6204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21912"/>
            <a:ext cx="8229600" cy="289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 userDrawn="1"/>
        </p:nvSpPr>
        <p:spPr>
          <a:xfrm>
            <a:off x="-865051" y="413412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67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8" r:id="rId1"/>
    <p:sldLayoutId id="2147483872" r:id="rId2"/>
    <p:sldLayoutId id="2147483885" r:id="rId3"/>
    <p:sldLayoutId id="2147483877" r:id="rId4"/>
    <p:sldLayoutId id="2147483891" r:id="rId5"/>
    <p:sldLayoutId id="2147483883" r:id="rId6"/>
    <p:sldLayoutId id="2147483873" r:id="rId7"/>
    <p:sldLayoutId id="2147483888" r:id="rId8"/>
    <p:sldLayoutId id="2147483892" r:id="rId9"/>
    <p:sldLayoutId id="2147483874" r:id="rId10"/>
    <p:sldLayoutId id="2147483886" r:id="rId11"/>
    <p:sldLayoutId id="2147483889" r:id="rId12"/>
    <p:sldLayoutId id="2147483893" r:id="rId13"/>
    <p:sldLayoutId id="2147483879" r:id="rId14"/>
    <p:sldLayoutId id="2147483887" r:id="rId15"/>
    <p:sldLayoutId id="2147483890" r:id="rId16"/>
    <p:sldLayoutId id="2147483880" r:id="rId17"/>
    <p:sldLayoutId id="2147483894" r:id="rId18"/>
    <p:sldLayoutId id="2147483875" r:id="rId19"/>
    <p:sldLayoutId id="2147483881" r:id="rId20"/>
    <p:sldLayoutId id="2147483882" r:id="rId21"/>
    <p:sldLayoutId id="2147483706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36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1828800" indent="0" algn="l" defTabSz="4572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7498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3000" b="1">
                <a:solidFill>
                  <a:srgbClr val="FFFFFF"/>
                </a:solidFill>
              </a:rPr>
              <a:t>Детекция заправок
по датчику уровня топлива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749807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600">
                <a:solidFill>
                  <a:srgbClr val="FFFFFF"/>
                </a:solidFill>
              </a:rPr>
              <a:t>Лабораторная работа</a:t>
            </a:r>
          </a:p>
          <a:p>
            <a:pPr/>
            <a:r>
              <a:rPr sz="1300">
                <a:solidFill>
                  <a:srgbClr val="C9C9C9"/>
                </a:solidFill>
              </a:rPr>
              <a:t>50 машин · 6.1 млн сообщений телематики · июль — декабрь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212080" y="1554480"/>
            <a:ext cx="3291840" cy="2377440"/>
          </a:xfrm>
        </p:spPr>
        <p:txBody>
          <a:bodyPr/>
          <a:lstStyle/>
          <a:p>
            <a:pPr/>
            <a:r>
              <a:rPr sz="1500"/>
              <a:t>Датчик уровня топлива шлёт показания раз в несколько секунд. Надо находить моменты заправок.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1249</a:t>
            </a:r>
          </a:p>
          <a:p>
            <a:pPr/>
            <a:r>
              <a:rPr sz="1200">
                <a:solidFill>
                  <a:srgbClr val="1A1A1A"/>
                </a:solidFill>
              </a:rPr>
              <a:t>заправок размечено за полгода на 50 машинах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Задача</a:t>
            </a:r>
          </a:p>
        </p:txBody>
      </p:sp>
      <p:pic>
        <p:nvPicPr>
          <p:cNvPr id="4" name="Picture 3" descr="s_event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4297680" cy="249865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Что приходит с машины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1554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53035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поле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это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уровень топлива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в единицах датчика, не в литрах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зажигание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0 или 1; при нуле датчик молчит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скорость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отличает стоянку от движения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время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0"/>
                        <a:t>сообщения приходят неравномерно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15468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Перевод в литры — по тарировочной таблице своей машины. Без неё одна заправка на разных машинах даёт разную амплитуду.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645920"/>
            <a:ext cx="3108960" cy="2194560"/>
          </a:xfrm>
        </p:spPr>
        <p:txBody>
          <a:bodyPr/>
          <a:lstStyle/>
          <a:p>
            <a:pPr/>
            <a:r>
              <a:rPr sz="1500"/>
              <a:t>Низкий порог ловит колебания уровня, высокий пропускает заправки. Середины нет.</a:t>
            </a:r>
          </a:p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0.37</a:t>
            </a:r>
          </a:p>
          <a:p>
            <a:pPr/>
            <a:r>
              <a:rPr sz="1200">
                <a:solidFill>
                  <a:srgbClr val="1A1A1A"/>
                </a:solidFill>
              </a:rPr>
              <a:t>лучший событийный F1 порога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Порог на приросте не работает</a:t>
            </a:r>
          </a:p>
        </p:txBody>
      </p:sp>
      <p:pic>
        <p:nvPicPr>
          <p:cNvPr id="4" name="Picture 3" descr="s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572000" cy="215660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Зажигание делит задачу надвое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выключен</a:t>
            </a:r>
          </a:p>
        </p:txBody>
      </p:sp>
      <p:pic>
        <p:nvPicPr>
          <p:cNvPr id="5" name="Picture 4" descr="s_ign_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3840480" cy="17919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Датчик молчит всю заправку: 8 л до остановки, 60 л после запуска. 711 событий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2344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700" b="1">
                <a:solidFill>
                  <a:srgbClr val="008CB4"/>
                </a:solidFill>
              </a:rPr>
              <a:t>Двигатель включён</a:t>
            </a:r>
          </a:p>
        </p:txBody>
      </p:sp>
      <p:pic>
        <p:nvPicPr>
          <p:cNvPr id="8" name="Picture 7" descr="s_ev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91640"/>
            <a:ext cx="3840480" cy="16254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17720" y="352044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/>
              <a:t>Машина стоит, двигатель работает, датчик пишет рост. 538 событий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Датасет: 85 228 строк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17320"/>
          <a:ext cx="7589520" cy="2176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1645920"/>
                <a:gridCol w="1188720"/>
                <a:gridCol w="1005840"/>
                <a:gridCol w="1188720"/>
                <a:gridCol w="14630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vehicle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ts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fuel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ign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41.4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07:45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62.3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07:55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74.2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73.9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79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/>
                        <a:t>V11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03.09 08:05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72.2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1.0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85</a:t>
                      </a:r>
                    </a:p>
                  </a:txBody>
                  <a:tcPr marL="73152" marT="18288" marB="18288"/>
                </a:tc>
                <a:tc>
                  <a:txBody>
                    <a:bodyPr/>
                    <a:lstStyle/>
                    <a:p>
                      <a:r>
                        <a:rPr sz="1100" b="0"/>
                        <a:t>0</a:t>
                      </a:r>
                    </a:p>
                  </a:txBody>
                  <a:tcPr marL="73152" marT="18288" marB="18288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77647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1A1A1A"/>
                </a:solidFill>
              </a:rPr>
              <a:t>Одна строка — 5 минут одной машины. Разбиение по машинам: 36 обучение, 9 валидация, 5 тест. Классы: 0 — ничего, 1 — заправка с включённым двигателем, 2 — с выключенным.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1.8%</a:t>
            </a:r>
          </a:p>
          <a:p>
            <a:pPr/>
            <a:r>
              <a:rPr sz="1200">
                <a:solidFill>
                  <a:srgbClr val="1A1A1A"/>
                </a:solidFill>
              </a:rPr>
              <a:t>интервалов — заправка с включённым двигателем</a:t>
            </a:r>
          </a:p>
          <a:p>
            <a:pPr>
              <a:spcBef>
                <a:spcPts val="1200"/>
              </a:spcBef>
            </a:pPr>
            <a:r>
              <a:rPr sz="1400"/>
              <a:t>Модель «всегда ноль» даёт 98% accuracy</a:t>
            </a:r>
          </a:p>
          <a:p>
            <a:pPr/>
            <a:r>
              <a:rPr sz="1400"/>
              <a:t>Спасают веса классов в функции потерь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Целевой класс редкий</a:t>
            </a:r>
          </a:p>
        </p:txBody>
      </p:sp>
      <p:pic>
        <p:nvPicPr>
          <p:cNvPr id="4" name="Picture 3" descr="s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56535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685800" y="3977639"/>
            <a:ext cx="7772400" cy="548640"/>
          </a:xfrm>
        </p:spPr>
        <p:txBody>
          <a:bodyPr/>
          <a:lstStyle/>
          <a:p>
            <a:pPr/>
            <a:r>
              <a:rPr sz="1500"/>
              <a:t>Признаки интервала: уровень и четыре разности — на 1, 2, 3 и 4 назад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Признаки и окна</a:t>
            </a:r>
          </a:p>
        </p:txBody>
      </p:sp>
      <p:pic>
        <p:nvPicPr>
          <p:cNvPr id="4" name="Picture 3" descr="s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17320"/>
            <a:ext cx="6400800" cy="2371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486400" y="1554480"/>
            <a:ext cx="3017520" cy="237744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45 с</a:t>
            </a:r>
          </a:p>
          <a:p>
            <a:pPr/>
            <a:r>
              <a:rPr sz="1200">
                <a:solidFill>
                  <a:srgbClr val="1A1A1A"/>
                </a:solidFill>
              </a:rPr>
              <a:t>обучение на процессоре</a:t>
            </a:r>
          </a:p>
          <a:p>
            <a:pPr>
              <a:spcBef>
                <a:spcPts val="1200"/>
              </a:spcBef>
            </a:pPr>
            <a:r>
              <a:rPr sz="1400"/>
              <a:t>LSTM: 2 слоя по 64, 51 651 параметр</a:t>
            </a:r>
          </a:p>
          <a:p>
            <a:pPr/>
            <a:r>
              <a:rPr sz="1400"/>
              <a:t>Плато около 0.75 — есть куда расти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</a:t>
            </a:r>
          </a:p>
        </p:txBody>
      </p:sp>
      <p:pic>
        <p:nvPicPr>
          <p:cNvPr id="4" name="Picture 3" descr="s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37360"/>
            <a:ext cx="4663440" cy="2184029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31520" y="3794760"/>
            <a:ext cx="7680960" cy="914400"/>
          </a:xfrm>
        </p:spPr>
        <p:txBody>
          <a:bodyPr/>
          <a:lstStyle/>
          <a:p>
            <a:pPr/>
            <a:r>
              <a:rPr sz="1400"/>
              <a:t>Серые блоки — заправки по разметке эксперта, фиолетовые — что нашла модель.</a:t>
            </a:r>
          </a:p>
          <a:p>
            <a:pPr>
              <a:spcBef>
                <a:spcPts val="800"/>
              </a:spcBef>
            </a:pPr>
            <a:r>
              <a:rPr sz="1400"/>
              <a:t>Границы почти никогда не совпадают точь-в-точь, поэтому событие засчитывается с допуском ±5 минут — это один интервал.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Считаем события, а не точки</a:t>
            </a:r>
          </a:p>
        </p:txBody>
      </p:sp>
      <p:pic>
        <p:nvPicPr>
          <p:cNvPr id="4" name="Picture 3" descr="s_event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25880"/>
            <a:ext cx="6217920" cy="244731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4023360" y="1463040"/>
            <a:ext cx="4389120" cy="2743200"/>
          </a:xfrm>
        </p:spPr>
        <p:txBody>
          <a:bodyPr/>
          <a:lstStyle/>
          <a:p>
            <a:pPr>
              <a:spcBef>
                <a:spcPts val="1000"/>
              </a:spcBef>
            </a:pPr>
            <a:r>
              <a:rPr sz="2600" b="1">
                <a:solidFill>
                  <a:srgbClr val="9307FE"/>
                </a:solidFill>
              </a:rPr>
              <a:t>0.786</a:t>
            </a:r>
          </a:p>
          <a:p>
            <a:pPr/>
            <a:r>
              <a:rPr sz="1200">
                <a:solidFill>
                  <a:srgbClr val="1A1A1A"/>
                </a:solidFill>
              </a:rPr>
              <a:t>событийный F1</a:t>
            </a:r>
          </a:p>
          <a:p>
            <a:pPr>
              <a:spcBef>
                <a:spcPts val="1200"/>
              </a:spcBef>
            </a:pPr>
            <a:r>
              <a:rPr sz="1400"/>
              <a:t>precision 0.988 · recall 0.653</a:t>
            </a:r>
          </a:p>
          <a:p>
            <a:pPr/>
            <a:r>
              <a:rPr sz="1400"/>
              <a:t>81 событие найдено, 43 пропущено</a:t>
            </a:r>
          </a:p>
          <a:p>
            <a:pPr/>
            <a:r>
              <a:rPr sz="1400"/>
              <a:t>91 интервал уехал в класс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Результаты</a:t>
            </a:r>
          </a:p>
        </p:txBody>
      </p:sp>
      <p:pic>
        <p:nvPicPr>
          <p:cNvPr id="4" name="Picture 3" descr="s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2926080" cy="297412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5394960" y="1828800"/>
            <a:ext cx="3108960" cy="2011680"/>
          </a:xfrm>
        </p:spPr>
        <p:txBody>
          <a:bodyPr/>
          <a:lstStyle/>
          <a:p>
            <a:pPr/>
            <a:r>
              <a:rPr sz="1500"/>
              <a:t>У порога precision около 0.22: он находит заправки вместе с колебаниями уровня</a:t>
            </a:r>
          </a:p>
          <a:p>
            <a:pPr>
              <a:spcBef>
                <a:spcPts val="1000"/>
              </a:spcBef>
            </a:pPr>
            <a:r>
              <a:rPr sz="1500"/>
              <a:t>Модель смотрит на форму окна, а не на одно число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Модель против порога</a:t>
            </a:r>
          </a:p>
        </p:txBody>
      </p:sp>
      <p:pic>
        <p:nvPicPr>
          <p:cNvPr id="4" name="Picture 3" descr="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4480560" cy="291757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200400"/>
            <a:ext cx="7680960" cy="1371600"/>
          </a:xfrm>
        </p:spPr>
        <p:txBody>
          <a:bodyPr/>
          <a:lstStyle/>
          <a:p>
            <a:pPr/>
            <a:r>
              <a:rPr sz="1700" b="1"/>
              <a:t>Поднять событийный F1 на тестовых машинах</a:t>
            </a:r>
          </a:p>
          <a:p>
            <a:pPr>
              <a:spcBef>
                <a:spcPts val="1000"/>
              </a:spcBef>
            </a:pPr>
            <a:r>
              <a:rPr sz="1400"/>
              <a:t>Признаки · нормализация · длина окна · веса классов · архитектура · сглаживание · порог вероятности · размер интервала</a:t>
            </a:r>
          </a:p>
          <a:p>
            <a:pPr>
              <a:spcBef>
                <a:spcPts val="1000"/>
              </a:spcBef>
            </a:pPr>
            <a:r>
              <a:rPr sz="1400"/>
              <a:t>Разбиение не менять, на тестовых машинах не обучаться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Задание</a:t>
            </a:r>
          </a:p>
        </p:txBody>
      </p:sp>
      <p:pic>
        <p:nvPicPr>
          <p:cNvPr id="4" name="Picture 3" descr="s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371600"/>
            <a:ext cx="5669280" cy="171148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>
          <a:xfrm>
            <a:off x="777240" y="3584448"/>
            <a:ext cx="7680960" cy="1143000"/>
          </a:xfrm>
        </p:spPr>
        <p:txBody>
          <a:bodyPr/>
          <a:lstStyle/>
          <a:p>
            <a:pPr/>
            <a:r>
              <a:rPr sz="1500"/>
              <a:t>11 758 стоянок, из них 711 — заправки. Отличить можно одним вычитанием: уровень после минус уровень до.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9307FE"/>
                </a:solidFill>
              </a:rPr>
              <a:t>Порог даёт F1 0.968, сеть — 1.000. Так что означает её «стопроцентная точность»?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>
                <a:solidFill>
                  <a:srgbClr val="FFFFFF"/>
                </a:solidFill>
              </a:rPr>
              <a:t>Вопрос со звёздочкой</a:t>
            </a:r>
          </a:p>
        </p:txBody>
      </p:sp>
      <p:pic>
        <p:nvPicPr>
          <p:cNvPr id="4" name="Picture 3" descr="s_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07008"/>
            <a:ext cx="4754880" cy="214792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8B8AAD5-E9C3-1658-E63A-781FE18FA76A}"/>
              </a:ext>
            </a:extLst>
          </p:cNvPr>
          <p:cNvSpPr txBox="1"/>
          <p:nvPr/>
        </p:nvSpPr>
        <p:spPr>
          <a:xfrm>
            <a:off x="8372475" y="445557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5441</TotalTime>
  <Words>1058</Words>
  <Application>Microsoft Office PowerPoint</Application>
  <PresentationFormat>Экран (16:9)</PresentationFormat>
  <Paragraphs>86</Paragraphs>
  <Slides>13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Система автоматического выявления подмены лица на изображениях с использованием современных технологий искусственного интеллекта </vt:lpstr>
      <vt:lpstr>Актуальность проблемы: Эволюция дипфейков</vt:lpstr>
      <vt:lpstr>Цель и задачи исследования</vt:lpstr>
      <vt:lpstr>Анализ существующих подходов</vt:lpstr>
      <vt:lpstr>Предложенная гибридная методология</vt:lpstr>
      <vt:lpstr>Архитектура: контекстная диаграмма</vt:lpstr>
      <vt:lpstr>Архитектура: диаграмма контейнеров</vt:lpstr>
      <vt:lpstr>Архитектур: диаграмма компонентов</vt:lpstr>
      <vt:lpstr>Формирование набора данных</vt:lpstr>
      <vt:lpstr>Результаты</vt:lpstr>
      <vt:lpstr>Интерпретируемость результата</vt:lpstr>
      <vt:lpstr>Итоги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</dc:creator>
  <cp:lastModifiedBy>Халеев Михаил Дмитриевич</cp:lastModifiedBy>
  <cp:revision>133</cp:revision>
  <dcterms:created xsi:type="dcterms:W3CDTF">2014-06-27T12:30:22Z</dcterms:created>
  <dcterms:modified xsi:type="dcterms:W3CDTF">2026-03-31T17:05:29Z</dcterms:modified>
</cp:coreProperties>
</file>