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870" r:id="rId1"/>
  </p:sldMasterIdLst>
  <p:notesMasterIdLst>
    <p:notesMasterId r:id="rId15"/>
  </p:notesMasterIdLst>
  <p:handoutMasterIdLst>
    <p:handoutMasterId r:id="rId16"/>
  </p:handoutMasterIdLst>
  <p:sldIdLst>
    <p:sldId id="256" r:id="rId10"/>
    <p:sldId id="257" r:id="rId11"/>
    <p:sldId id="258" r:id="rId12"/>
    <p:sldId id="259" r:id="rId13"/>
    <p:sldId id="260" r:id="rId14"/>
    <p:sldId id="261" r:id="rId9"/>
    <p:sldId id="262" r:id="rId8"/>
    <p:sldId id="263" r:id="rId7"/>
    <p:sldId id="264" r:id="rId6"/>
    <p:sldId id="265" r:id="rId5"/>
    <p:sldId id="266" r:id="rId4"/>
    <p:sldId id="267" r:id="rId3"/>
    <p:sldId id="268" r:id="rId2"/>
    <p:sldId id="269" r:id="rId2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1">
          <p15:clr>
            <a:srgbClr val="A4A3A4"/>
          </p15:clr>
        </p15:guide>
        <p15:guide id="2" pos="287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595315-6059-63B0-9BE8-AAFD11894995}" name="Елена Иванченко" initials="ЕИ" userId="7f7d7db965285a96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Самолетов" initials="С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22" autoAdjust="0"/>
    <p:restoredTop sz="95884" autoAdjust="0"/>
  </p:normalViewPr>
  <p:slideViewPr>
    <p:cSldViewPr snapToGrid="0" snapToObjects="1" showGuides="1">
      <p:cViewPr varScale="1">
        <p:scale>
          <a:sx n="140" d="100"/>
          <a:sy n="140" d="100"/>
        </p:scale>
        <p:origin x="2454" y="114"/>
      </p:cViewPr>
      <p:guideLst>
        <p:guide orient="horz" pos="1611"/>
        <p:guide pos="287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8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commentAuthors" Target="commentAuthors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8/10/relationships/authors" Target="authors.xml"/><Relationship Id="rId23" Type="http://schemas.openxmlformats.org/officeDocument/2006/relationships/slide" Target="slides/slide1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412975-4CFD-C441-A244-B7FD9A9579C2}" type="datetimeFigureOut">
              <a:rPr lang="en-US" smtClean="0"/>
              <a:pPr/>
              <a:t>3/31/2026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D660DC-725D-2A44-9F89-74FE668A9C6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12542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AFD1C8-470D-774F-8B40-381C3059BD4A}" type="datetimeFigureOut">
              <a:rPr lang="en-US" smtClean="0"/>
              <a:pPr/>
              <a:t>3/31/2026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49711C-DB87-6342-8123-FE7E39EB00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07329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783B35-4D64-24CD-46E0-32E9FC276C40}"/>
              </a:ext>
            </a:extLst>
          </p:cNvPr>
          <p:cNvSpPr txBox="1"/>
          <p:nvPr userDrawn="1"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FEFD47-67FA-CC9C-A247-DDA306E69DC7}"/>
              </a:ext>
            </a:extLst>
          </p:cNvPr>
          <p:cNvSpPr txBox="1"/>
          <p:nvPr userDrawn="1"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74B261-5474-8217-1C1F-DF8DF956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5A92729-C745-7CCF-6847-2DF14BA7138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 baseline="0"/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0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0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8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99776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kfq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1211943"/>
            <a:ext cx="7467600" cy="3447143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 baseline="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4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20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09715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DC7664A4-1431-5B79-D831-F6220EA436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9A5E5274-1C05-A7BB-B9D5-BE8CD4A5E9F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5FC28AB9-3129-9DBE-782C-D2B113A5A6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12C4E9B1-800A-20F6-E4F7-84C6B3BE946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C1609-7E48-B73D-CDA4-19FD56B59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329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256F42A0-92A9-ED41-A4B6-1B839857D47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</p:spTree>
    <p:extLst>
      <p:ext uri="{BB962C8B-B14F-4D97-AF65-F5344CB8AC3E}">
        <p14:creationId xmlns:p14="http://schemas.microsoft.com/office/powerpoint/2010/main" val="4394751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0393FA-3ECC-3158-E15E-58890F60B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DB0C6-E4DE-9A4B-998D-34852F1B3E9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4034559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414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Текст 7">
            <a:extLst>
              <a:ext uri="{FF2B5EF4-FFF2-40B4-BE49-F238E27FC236}">
                <a16:creationId xmlns:a16="http://schemas.microsoft.com/office/drawing/2014/main" id="{36D9692A-5DC0-3DF1-F516-70164F11C5A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16" name="Текст 13">
            <a:extLst>
              <a:ext uri="{FF2B5EF4-FFF2-40B4-BE49-F238E27FC236}">
                <a16:creationId xmlns:a16="http://schemas.microsoft.com/office/drawing/2014/main" id="{C2C41F40-A63A-48C4-01DC-A4A13BB7B8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D5B27C-CA4C-7381-3F84-F0595A76CE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Текст 7">
            <a:extLst>
              <a:ext uri="{FF2B5EF4-FFF2-40B4-BE49-F238E27FC236}">
                <a16:creationId xmlns:a16="http://schemas.microsoft.com/office/drawing/2014/main" id="{2AA24315-FE73-04A8-D530-E746EC0C20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69578C56-72EB-AE17-C6D4-CE1E8FBA30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018934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E2ED3E-3221-72A5-8340-4E08819C8F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19B43694-08A8-116E-FA12-468591D136C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E75CB8B0-7394-87DF-B065-6F242AB2D01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993366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E98E654-ABDC-7E78-775E-43A2D6214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D71CC7-EEA6-E9D0-68AD-36562CCF607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2540818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3609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3706F3BB-2486-D68F-6966-44BBD62CEC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49722966-1EC6-6348-3A3A-25A27C8E50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D2BFFE86-F97D-E925-927B-0F6BBD2D6EE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ADAF316B-52C6-704E-CB38-0E76498CD5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88714-60F8-FF59-CB87-38F52214F9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2600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8C44632-7642-B672-30DB-BEE8EBC23C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AF7BB137-1C7F-56D5-5D41-70ED6DEA4C5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895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9C7E817-A2F7-D228-2EB2-8CC2710635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2927035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1F5CFB9-FFF2-E218-2283-FA3AC247B8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1CCADC5-135D-DC69-A40F-E7939EE42C8E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31102738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Финал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4">
            <a:extLst>
              <a:ext uri="{FF2B5EF4-FFF2-40B4-BE49-F238E27FC236}">
                <a16:creationId xmlns:a16="http://schemas.microsoft.com/office/drawing/2014/main" id="{164235EB-093A-2BDE-8127-460B61C5B6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6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конец списка.</a:t>
            </a:r>
          </a:p>
          <a:p>
            <a:pPr lvl="0"/>
            <a:endParaRPr lang="ru-RU" dirty="0"/>
          </a:p>
          <a:p>
            <a:pPr lvl="0"/>
            <a:endParaRPr lang="ru-RU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FD6E8F6-2854-A3A1-FCCA-4BC7B8C56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4405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5FAEC5-3811-8889-0016-6EA3B2AC41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7">
            <a:extLst>
              <a:ext uri="{FF2B5EF4-FFF2-40B4-BE49-F238E27FC236}">
                <a16:creationId xmlns:a16="http://schemas.microsoft.com/office/drawing/2014/main" id="{CAC739FE-CC7A-A005-60BE-713B90BFE7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5" name="Текст 13">
            <a:extLst>
              <a:ext uri="{FF2B5EF4-FFF2-40B4-BE49-F238E27FC236}">
                <a16:creationId xmlns:a16="http://schemas.microsoft.com/office/drawing/2014/main" id="{0280BF47-780B-2175-23F6-FDC24D601F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6" name="Текст 7">
            <a:extLst>
              <a:ext uri="{FF2B5EF4-FFF2-40B4-BE49-F238E27FC236}">
                <a16:creationId xmlns:a16="http://schemas.microsoft.com/office/drawing/2014/main" id="{E58E80D7-3F9A-CA73-1A7E-C864B8F1B1A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7" name="Текст 13">
            <a:extLst>
              <a:ext uri="{FF2B5EF4-FFF2-40B4-BE49-F238E27FC236}">
                <a16:creationId xmlns:a16="http://schemas.microsoft.com/office/drawing/2014/main" id="{BF0BE89B-425E-821E-10AB-56C164DAED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2062931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F282CACE-D64E-E390-8227-23E049D60AA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893D5-8CB5-3E29-008C-CC0E0591AE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6E126262-C015-9DD6-F87F-1B632AE7449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7363212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102428" y="943208"/>
            <a:ext cx="5526315" cy="3875536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0DDF7E5-74E5-85B7-0EAB-6118F548A98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7936B987-FE27-33B7-4612-FDB9F2B35C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855286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6">
            <a:extLst>
              <a:ext uri="{FF2B5EF4-FFF2-40B4-BE49-F238E27FC236}">
                <a16:creationId xmlns:a16="http://schemas.microsoft.com/office/drawing/2014/main" id="{604BBFFB-7572-35FA-4787-0F445C5632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1" y="1059322"/>
            <a:ext cx="3897086" cy="1734678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BFD2DD0-1A50-CC19-1239-4EE4F12EA91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2" y="3105836"/>
            <a:ext cx="3897084" cy="1640335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73A9D63A-5180-ED0A-F619-007A1570C1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89714" y="1059322"/>
            <a:ext cx="3632201" cy="3686849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075CB2-AC7B-1521-E0C8-0618DBE0F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35917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4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0945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596980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3287828"/>
            <a:ext cx="2588883" cy="1395548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207251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84827D-CE53-9591-037D-C963F1C74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5AE50A46-F4A6-68CE-7C12-AA2301388718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5967600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2AB405F-D2C7-9CD0-F8A2-C5B08DACE9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20D20C24-934F-4A5C-CF04-B479AF2D0D5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2D750E3A-97C5-5CBE-A3C9-0F2565E569EE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7384253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33143" y="949330"/>
            <a:ext cx="2895600" cy="3895724"/>
          </a:xfrm>
        </p:spPr>
        <p:txBody>
          <a:bodyPr>
            <a:normAutofit/>
          </a:bodyPr>
          <a:lstStyle>
            <a:lvl1pPr marL="0" indent="0">
              <a:buNone/>
              <a:defRPr sz="1400" b="0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F1233E17-1183-B76E-8FDC-B4E51177D94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D225B0AE-7C4E-EA08-3FB1-DC344CD7244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8F0CB042-A157-2892-A9F3-8F41034FBC2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B7890194-FBA6-DE42-AD42-307D6F999BE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274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6AE54EB-260E-9A56-307F-307DC6AE32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1" y="963397"/>
            <a:ext cx="2532744" cy="1883023"/>
          </a:xfrm>
        </p:spPr>
        <p:txBody>
          <a:bodyPr>
            <a:normAutofit/>
          </a:bodyPr>
          <a:lstStyle>
            <a:lvl1pPr marL="0" indent="0">
              <a:buNone/>
              <a:defRPr sz="1800" b="1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Ключевая фраза слайда</a:t>
            </a:r>
          </a:p>
        </p:txBody>
      </p:sp>
      <p:sp>
        <p:nvSpPr>
          <p:cNvPr id="7" name="Рисунок 2">
            <a:extLst>
              <a:ext uri="{FF2B5EF4-FFF2-40B4-BE49-F238E27FC236}">
                <a16:creationId xmlns:a16="http://schemas.microsoft.com/office/drawing/2014/main" id="{20DDEE97-30A5-E948-6E23-28FB2BCF96F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AAC08422-7D47-2B7E-7D28-680BC07B364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D0F3CB7-1C07-A606-10E8-3541ED42DF3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AFE5227E-AF6F-5CD4-3762-3B690A4EFAC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F1DACFFD-7F12-BA1F-C994-00039280C0A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181888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75819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6085706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F822C9-93DB-8981-8DE8-9669C842C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BC6181E-5380-5398-36BA-70EAD01E6B61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6C8F21F1-75B3-D8F1-2DB5-6F70F86F1DB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276AF22E-2A7E-F9AB-5142-9D689D32BAC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4381B90F-578B-03FE-3E62-01B123DDCA0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60352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78F39546-2C38-A484-9527-E82840466A9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278970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62CF135A-DC57-BFA7-737D-7E89CABB270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88857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id="{F2DF9285-C300-85F5-A106-92A286165DE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id="{3E7EB42F-DA19-C666-2E68-46C62D12946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31" name="Рисунок 2">
            <a:extLst>
              <a:ext uri="{FF2B5EF4-FFF2-40B4-BE49-F238E27FC236}">
                <a16:creationId xmlns:a16="http://schemas.microsoft.com/office/drawing/2014/main" id="{8819B960-AE2A-9E43-B370-CD1D6A1ACE8D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71863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4D3E97-5D7A-1D29-BA55-742D76C1C8C4}"/>
              </a:ext>
            </a:extLst>
          </p:cNvPr>
          <p:cNvSpPr txBox="1"/>
          <p:nvPr userDrawn="1"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678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8" r:id="rId1"/>
    <p:sldLayoutId id="2147483872" r:id="rId2"/>
    <p:sldLayoutId id="2147483885" r:id="rId3"/>
    <p:sldLayoutId id="2147483877" r:id="rId4"/>
    <p:sldLayoutId id="2147483891" r:id="rId5"/>
    <p:sldLayoutId id="2147483883" r:id="rId6"/>
    <p:sldLayoutId id="2147483873" r:id="rId7"/>
    <p:sldLayoutId id="2147483888" r:id="rId8"/>
    <p:sldLayoutId id="2147483892" r:id="rId9"/>
    <p:sldLayoutId id="2147483874" r:id="rId10"/>
    <p:sldLayoutId id="2147483886" r:id="rId11"/>
    <p:sldLayoutId id="2147483889" r:id="rId12"/>
    <p:sldLayoutId id="2147483893" r:id="rId13"/>
    <p:sldLayoutId id="2147483879" r:id="rId14"/>
    <p:sldLayoutId id="2147483887" r:id="rId15"/>
    <p:sldLayoutId id="2147483890" r:id="rId16"/>
    <p:sldLayoutId id="2147483880" r:id="rId17"/>
    <p:sldLayoutId id="2147483894" r:id="rId18"/>
    <p:sldLayoutId id="2147483875" r:id="rId19"/>
    <p:sldLayoutId id="2147483881" r:id="rId20"/>
    <p:sldLayoutId id="2147483882" r:id="rId21"/>
    <p:sldLayoutId id="2147483706" r:id="rId22"/>
  </p:sldLayoutIdLst>
  <p:hf hdr="0" dt="0"/>
  <p:txStyles>
    <p:titleStyle>
      <a:lvl1pPr algn="l" defTabSz="457200" rtl="0" eaLnBrk="1" latinLnBrk="0" hangingPunct="1">
        <a:spcBef>
          <a:spcPct val="0"/>
        </a:spcBef>
        <a:buNone/>
        <a:defRPr sz="3600" b="1" i="0" kern="1200" baseline="0">
          <a:solidFill>
            <a:schemeClr val="tx1"/>
          </a:solidFill>
          <a:latin typeface="ALS Gorizont Bold Expanded" panose="00000805000000000000" pitchFamily="50" charset="0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spcBef>
          <a:spcPct val="20000"/>
        </a:spcBef>
        <a:buSzPct val="100000"/>
        <a:buFont typeface="Arial" panose="020B0604020202020204" pitchFamily="34" charset="0"/>
        <a:buNone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4pPr>
      <a:lvl5pPr marL="1828800" indent="0" algn="l" defTabSz="457200" rtl="0" eaLnBrk="1" latinLnBrk="0" hangingPunct="1">
        <a:spcBef>
          <a:spcPct val="200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7498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000" b="1">
                <a:solidFill>
                  <a:srgbClr val="FFFFFF"/>
                </a:solidFill>
              </a:rPr>
              <a:t>Детекция заправок
по датчику уровня топлива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03320"/>
            <a:ext cx="749807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600">
                <a:solidFill>
                  <a:srgbClr val="FFFFFF"/>
                </a:solidFill>
              </a:rPr>
              <a:t>Лабораторная работа</a:t>
            </a:r>
          </a:p>
          <a:p>
            <a:pPr/>
            <a:r>
              <a:rPr sz="1300">
                <a:solidFill>
                  <a:srgbClr val="C9C9C9"/>
                </a:solidFill>
              </a:rPr>
              <a:t>50 машин · 6.1 млн сообщений телематики · июль — декабрь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212080" y="1554480"/>
            <a:ext cx="3291840" cy="2377440"/>
          </a:xfrm>
        </p:spPr>
        <p:txBody>
          <a:bodyPr/>
          <a:lstStyle/>
          <a:p>
            <a:pPr/>
            <a:r>
              <a:rPr sz="1500"/>
              <a:t>Датчик уровня топлива шлёт показания раз в несколько секунд. Надо находить моменты заправок.</a:t>
            </a:r>
          </a:p>
          <a:p>
            <a:pPr>
              <a:spcBef>
                <a:spcPts val="1000"/>
              </a:spcBef>
            </a:pPr>
            <a:r>
              <a:rPr sz="2600" b="1">
                <a:solidFill>
                  <a:srgbClr val="9307FE"/>
                </a:solidFill>
              </a:rPr>
              <a:t>1249</a:t>
            </a:r>
          </a:p>
          <a:p>
            <a:pPr/>
            <a:r>
              <a:rPr sz="1200">
                <a:solidFill>
                  <a:srgbClr val="1A1A1A"/>
                </a:solidFill>
              </a:rPr>
              <a:t>заправок размечено за полгода на 50 машинах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Задача</a:t>
            </a:r>
          </a:p>
        </p:txBody>
      </p:sp>
      <p:pic>
        <p:nvPicPr>
          <p:cNvPr id="4" name="Picture 3" descr="s_events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4297680" cy="249865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Что приходит с машины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417320"/>
          <a:ext cx="7589520" cy="1554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530352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поле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что это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уровень топлива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в единицах датчика, не в литрах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зажигание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0 или 1; при нуле датчик молчит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скорость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отличает стоянку от движения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время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сообщения приходят неравномерно</a:t>
                      </a:r>
                    </a:p>
                  </a:txBody>
                  <a:tcPr marL="73152" marT="18288" marB="18288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3154680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1A1A1A"/>
                </a:solidFill>
              </a:rPr>
              <a:t>Перевод в литры — по тарировочной таблице своей машины. Без неё одна заправка на разных машинах даёт разную амплитуду.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394960" y="1645920"/>
            <a:ext cx="3108960" cy="2194560"/>
          </a:xfrm>
        </p:spPr>
        <p:txBody>
          <a:bodyPr/>
          <a:lstStyle/>
          <a:p>
            <a:pPr/>
            <a:r>
              <a:rPr sz="1500"/>
              <a:t>Низкий порог ловит колебания уровня, высокий пропускает заправки. Середины нет.</a:t>
            </a:r>
          </a:p>
          <a:p>
            <a:pPr>
              <a:spcBef>
                <a:spcPts val="1000"/>
              </a:spcBef>
            </a:pPr>
            <a:r>
              <a:rPr sz="2600" b="1">
                <a:solidFill>
                  <a:srgbClr val="9307FE"/>
                </a:solidFill>
              </a:rPr>
              <a:t>0.37</a:t>
            </a:r>
          </a:p>
          <a:p>
            <a:pPr/>
            <a:r>
              <a:rPr sz="1200">
                <a:solidFill>
                  <a:srgbClr val="1A1A1A"/>
                </a:solidFill>
              </a:rPr>
              <a:t>лучший событийный F1 порога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Порог на приросте не работает</a:t>
            </a:r>
          </a:p>
        </p:txBody>
      </p:sp>
      <p:pic>
        <p:nvPicPr>
          <p:cNvPr id="4" name="Picture 3" descr="s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4572000" cy="215660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Зажигание делит задачу надвое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 b="1">
                <a:solidFill>
                  <a:srgbClr val="008CB4"/>
                </a:solidFill>
              </a:rPr>
              <a:t>Двигатель выключен</a:t>
            </a:r>
          </a:p>
        </p:txBody>
      </p:sp>
      <p:pic>
        <p:nvPicPr>
          <p:cNvPr id="5" name="Picture 4" descr="s_ign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3840480" cy="17919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52044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/>
              <a:t>Датчик молчит всю заправку: 8 л до остановки, 60 л после запуска. 711 событий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2344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 b="1">
                <a:solidFill>
                  <a:srgbClr val="008CB4"/>
                </a:solidFill>
              </a:rPr>
              <a:t>Двигатель включён</a:t>
            </a:r>
          </a:p>
        </p:txBody>
      </p:sp>
      <p:pic>
        <p:nvPicPr>
          <p:cNvPr id="8" name="Picture 7" descr="s_ev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691640"/>
            <a:ext cx="3840480" cy="16254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17720" y="352044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/>
              <a:t>Машина стоит, двигатель работает, датчик пишет рост. 538 событий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Датасет: 85 228 строк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417320"/>
          <a:ext cx="7589520" cy="21762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97280"/>
                <a:gridCol w="1645920"/>
                <a:gridCol w="1188720"/>
                <a:gridCol w="1005840"/>
                <a:gridCol w="1188720"/>
                <a:gridCol w="14630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vehicle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ts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fuel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ign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speed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label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/>
                        <a:t>V11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03.09 07:40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41.4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74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/>
                        <a:t>V11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03.09 07:45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62.3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72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/>
                        <a:t>V11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03.09 07:50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74.2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81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/>
                        <a:t>V11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03.09 07:55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74.2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82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/>
                        <a:t>V11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03.09 08:00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73.9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79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/>
                        <a:t>V11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03.09 08:05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72.2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85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</a:t>
                      </a:r>
                    </a:p>
                  </a:txBody>
                  <a:tcPr marL="73152" marT="18288" marB="18288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3776472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1A1A1A"/>
                </a:solidFill>
              </a:rPr>
              <a:t>Одна строка — 5 минут одной машины. Разбиение по машинам: 36 обучение, 9 валидация, 5 тест. Классы: 0 — ничего, 1 — заправка с включённым двигателем, 2 — с выключенным.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486400" y="1554480"/>
            <a:ext cx="3017520" cy="2377440"/>
          </a:xfrm>
        </p:spPr>
        <p:txBody>
          <a:bodyPr/>
          <a:lstStyle/>
          <a:p>
            <a:pPr>
              <a:spcBef>
                <a:spcPts val="1000"/>
              </a:spcBef>
            </a:pPr>
            <a:r>
              <a:rPr sz="2600" b="1">
                <a:solidFill>
                  <a:srgbClr val="9307FE"/>
                </a:solidFill>
              </a:rPr>
              <a:t>1.8%</a:t>
            </a:r>
          </a:p>
          <a:p>
            <a:pPr/>
            <a:r>
              <a:rPr sz="1200">
                <a:solidFill>
                  <a:srgbClr val="1A1A1A"/>
                </a:solidFill>
              </a:rPr>
              <a:t>интервалов — заправка с включённым двигателем</a:t>
            </a:r>
          </a:p>
          <a:p>
            <a:pPr>
              <a:spcBef>
                <a:spcPts val="1200"/>
              </a:spcBef>
            </a:pPr>
            <a:r>
              <a:rPr sz="1400"/>
              <a:t>Модель «всегда ноль» даёт 98% accuracy</a:t>
            </a:r>
          </a:p>
          <a:p>
            <a:pPr/>
            <a:r>
              <a:rPr sz="1400"/>
              <a:t>Спасают веса классов в функции потерь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Целевой класс редкий</a:t>
            </a:r>
          </a:p>
        </p:txBody>
      </p:sp>
      <p:pic>
        <p:nvPicPr>
          <p:cNvPr id="4" name="Picture 3" descr="s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37360"/>
            <a:ext cx="4663440" cy="256535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685800" y="3977639"/>
            <a:ext cx="7772400" cy="548640"/>
          </a:xfrm>
        </p:spPr>
        <p:txBody>
          <a:bodyPr/>
          <a:lstStyle/>
          <a:p>
            <a:pPr/>
            <a:r>
              <a:rPr sz="1500"/>
              <a:t>Признаки интервала: уровень и четыре разности — на 1, 2, 3 и 4 назад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Признаки и окна</a:t>
            </a:r>
          </a:p>
        </p:txBody>
      </p:sp>
      <p:pic>
        <p:nvPicPr>
          <p:cNvPr id="4" name="Picture 3" descr="s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17320"/>
            <a:ext cx="6400800" cy="2371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486400" y="1554480"/>
            <a:ext cx="3017520" cy="2377440"/>
          </a:xfrm>
        </p:spPr>
        <p:txBody>
          <a:bodyPr/>
          <a:lstStyle/>
          <a:p>
            <a:pPr>
              <a:spcBef>
                <a:spcPts val="1000"/>
              </a:spcBef>
            </a:pPr>
            <a:r>
              <a:rPr sz="2600" b="1">
                <a:solidFill>
                  <a:srgbClr val="9307FE"/>
                </a:solidFill>
              </a:rPr>
              <a:t>45 с</a:t>
            </a:r>
          </a:p>
          <a:p>
            <a:pPr/>
            <a:r>
              <a:rPr sz="1200">
                <a:solidFill>
                  <a:srgbClr val="1A1A1A"/>
                </a:solidFill>
              </a:rPr>
              <a:t>обучение на процессоре</a:t>
            </a:r>
          </a:p>
          <a:p>
            <a:pPr>
              <a:spcBef>
                <a:spcPts val="1200"/>
              </a:spcBef>
            </a:pPr>
            <a:r>
              <a:rPr sz="1400"/>
              <a:t>LSTM: 2 слоя по 64, 51 651 параметр</a:t>
            </a:r>
          </a:p>
          <a:p>
            <a:pPr/>
            <a:r>
              <a:rPr sz="1400"/>
              <a:t>Плато около 0.75 — есть куда расти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Модель</a:t>
            </a:r>
          </a:p>
        </p:txBody>
      </p:sp>
      <p:pic>
        <p:nvPicPr>
          <p:cNvPr id="4" name="Picture 3" descr="s_tra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37360"/>
            <a:ext cx="4663440" cy="218402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731520" y="3703320"/>
            <a:ext cx="7680960" cy="914400"/>
          </a:xfrm>
        </p:spPr>
        <p:txBody>
          <a:bodyPr/>
          <a:lstStyle/>
          <a:p>
            <a:pPr/>
            <a:r>
              <a:rPr sz="1400"/>
              <a:t>Угадала 3 интервала из 5 — событие всё равно найдено. Одно срабатывание на пустом месте — ложная тревога.</a:t>
            </a:r>
          </a:p>
          <a:p>
            <a:pPr>
              <a:spcBef>
                <a:spcPts val="800"/>
              </a:spcBef>
            </a:pPr>
            <a:r>
              <a:rPr sz="1400"/>
              <a:t>Допуск ±5 минут — это один интервал.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Считаем события, а не точки</a:t>
            </a:r>
          </a:p>
        </p:txBody>
      </p:sp>
      <p:pic>
        <p:nvPicPr>
          <p:cNvPr id="4" name="Picture 3" descr="s_event_met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280160"/>
            <a:ext cx="5486400" cy="230857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4023360" y="1463040"/>
            <a:ext cx="4389120" cy="2743200"/>
          </a:xfrm>
        </p:spPr>
        <p:txBody>
          <a:bodyPr/>
          <a:lstStyle/>
          <a:p>
            <a:pPr>
              <a:spcBef>
                <a:spcPts val="1000"/>
              </a:spcBef>
            </a:pPr>
            <a:r>
              <a:rPr sz="2600" b="1">
                <a:solidFill>
                  <a:srgbClr val="9307FE"/>
                </a:solidFill>
              </a:rPr>
              <a:t>0.786</a:t>
            </a:r>
          </a:p>
          <a:p>
            <a:pPr/>
            <a:r>
              <a:rPr sz="1200">
                <a:solidFill>
                  <a:srgbClr val="1A1A1A"/>
                </a:solidFill>
              </a:rPr>
              <a:t>событийный F1</a:t>
            </a:r>
          </a:p>
          <a:p>
            <a:pPr>
              <a:spcBef>
                <a:spcPts val="1200"/>
              </a:spcBef>
            </a:pPr>
            <a:r>
              <a:rPr sz="1400"/>
              <a:t>precision 0.988 · recall 0.653</a:t>
            </a:r>
          </a:p>
          <a:p>
            <a:pPr/>
            <a:r>
              <a:rPr sz="1400"/>
              <a:t>81 событие найдено, 43 пропущено</a:t>
            </a:r>
          </a:p>
          <a:p>
            <a:pPr/>
            <a:r>
              <a:rPr sz="1400"/>
              <a:t>91 интервал уехал в класс 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Результаты</a:t>
            </a:r>
          </a:p>
        </p:txBody>
      </p:sp>
      <p:pic>
        <p:nvPicPr>
          <p:cNvPr id="4" name="Picture 3" descr="s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2926080" cy="297412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394960" y="1828800"/>
            <a:ext cx="3108960" cy="2011680"/>
          </a:xfrm>
        </p:spPr>
        <p:txBody>
          <a:bodyPr/>
          <a:lstStyle/>
          <a:p>
            <a:pPr/>
            <a:r>
              <a:rPr sz="1500"/>
              <a:t>У порога precision около 0.22: он находит заправки вместе с колебаниями уровня</a:t>
            </a:r>
          </a:p>
          <a:p>
            <a:pPr>
              <a:spcBef>
                <a:spcPts val="1000"/>
              </a:spcBef>
            </a:pPr>
            <a:r>
              <a:rPr sz="1500"/>
              <a:t>Модель смотрит на форму окна, а не на одно число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Модель против порога</a:t>
            </a:r>
          </a:p>
        </p:txBody>
      </p:sp>
      <p:pic>
        <p:nvPicPr>
          <p:cNvPr id="4" name="Picture 3" descr="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4480560" cy="291757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777240" y="3200400"/>
            <a:ext cx="7680960" cy="1371600"/>
          </a:xfrm>
        </p:spPr>
        <p:txBody>
          <a:bodyPr/>
          <a:lstStyle/>
          <a:p>
            <a:pPr/>
            <a:r>
              <a:rPr sz="1700" b="1"/>
              <a:t>Поднять событийный F1 на тестовых машинах</a:t>
            </a:r>
          </a:p>
          <a:p>
            <a:pPr>
              <a:spcBef>
                <a:spcPts val="1000"/>
              </a:spcBef>
            </a:pPr>
            <a:r>
              <a:rPr sz="1400"/>
              <a:t>Признаки · нормализация · длина окна · веса классов · архитектура · сглаживание · порог вероятности · размер интервала</a:t>
            </a:r>
          </a:p>
          <a:p>
            <a:pPr>
              <a:spcBef>
                <a:spcPts val="1000"/>
              </a:spcBef>
            </a:pPr>
            <a:r>
              <a:rPr sz="1400"/>
              <a:t>Разбиение не менять, на тестовых машинах не обучаться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Задание</a:t>
            </a:r>
          </a:p>
        </p:txBody>
      </p:sp>
      <p:pic>
        <p:nvPicPr>
          <p:cNvPr id="4" name="Picture 3" descr="s_go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371600"/>
            <a:ext cx="5669280" cy="171148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777240" y="3584448"/>
            <a:ext cx="7680960" cy="1143000"/>
          </a:xfrm>
        </p:spPr>
        <p:txBody>
          <a:bodyPr/>
          <a:lstStyle/>
          <a:p>
            <a:pPr/>
            <a:r>
              <a:rPr sz="1500"/>
              <a:t>11 758 стоянок, из них 711 — заправки. Отличить можно одним вычитанием: уровень после минус уровень до.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9307FE"/>
                </a:solidFill>
              </a:rPr>
              <a:t>Порог даёт F1 0.968, сеть — 1.000. Так что означает её «стопроцентная точность»?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Вопрос со звёздочкой</a:t>
            </a:r>
          </a:p>
        </p:txBody>
      </p:sp>
      <p:pic>
        <p:nvPicPr>
          <p:cNvPr id="4" name="Picture 3" descr="s_l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207008"/>
            <a:ext cx="4754880" cy="214792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Тема1" id="{4DAE9245-FD5C-48A3-9F61-0C8FFBFAE07A}" vid="{20E0B42B-372D-46F0-B56F-89DFAD950D3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5441</TotalTime>
  <Words>1058</Words>
  <Application>Microsoft Office PowerPoint</Application>
  <PresentationFormat>Экран (16:9)</PresentationFormat>
  <Paragraphs>86</Paragraphs>
  <Slides>13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9" baseType="lpstr">
      <vt:lpstr>ALS Gorizont Bold Expanded</vt:lpstr>
      <vt:lpstr>Arial</vt:lpstr>
      <vt:lpstr>Calibri</vt:lpstr>
      <vt:lpstr>Golos Text</vt:lpstr>
      <vt:lpstr>Golos Text DemiBold</vt:lpstr>
      <vt:lpstr>Тема1</vt:lpstr>
      <vt:lpstr>Система автоматического выявления подмены лица на изображениях с использованием современных технологий искусственного интеллекта </vt:lpstr>
      <vt:lpstr>Актуальность проблемы: Эволюция дипфейков</vt:lpstr>
      <vt:lpstr>Цель и задачи исследования</vt:lpstr>
      <vt:lpstr>Анализ существующих подходов</vt:lpstr>
      <vt:lpstr>Предложенная гибридная методология</vt:lpstr>
      <vt:lpstr>Архитектура: контекстная диаграмма</vt:lpstr>
      <vt:lpstr>Архитектура: диаграмма контейнеров</vt:lpstr>
      <vt:lpstr>Архитектур: диаграмма компонентов</vt:lpstr>
      <vt:lpstr>Формирование набора данных</vt:lpstr>
      <vt:lpstr>Результаты</vt:lpstr>
      <vt:lpstr>Интерпретируемость результата</vt:lpstr>
      <vt:lpstr>Итоги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</dc:creator>
  <cp:lastModifiedBy>Халеев Михаил Дмитриевич</cp:lastModifiedBy>
  <cp:revision>133</cp:revision>
  <dcterms:created xsi:type="dcterms:W3CDTF">2014-06-27T12:30:22Z</dcterms:created>
  <dcterms:modified xsi:type="dcterms:W3CDTF">2026-03-31T17:05:29Z</dcterms:modified>
</cp:coreProperties>
</file>